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  <p:sldId id="266" r:id="rId14"/>
  </p:sldIdLst>
  <p:sldSz cx="14630400" cy="8229600"/>
  <p:notesSz cx="8229600" cy="14630400"/>
  <p:embeddedFontLst>
    <p:embeddedFont>
      <p:font typeface="Arial Black" panose="020B0A04020102020204" pitchFamily="34" charset="0"/>
      <p:bold r:id="rId16"/>
    </p:embeddedFont>
    <p:embeddedFont>
      <p:font typeface="Sylfaen" panose="010A0502050306030303" pitchFamily="18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081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0686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9102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51268" y="3269994"/>
            <a:ext cx="6665952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50"/>
              </a:lnSpc>
              <a:buNone/>
            </a:pPr>
            <a:r>
              <a:rPr lang="en-US" sz="11500" dirty="0">
                <a:latin typeface="Arial Black" panose="020B0A04020102020204" pitchFamily="34" charset="0"/>
              </a:rPr>
              <a:t>HOLOSENSE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305" y="7703820"/>
            <a:ext cx="2438095" cy="70866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4616" y="0"/>
            <a:ext cx="1875784" cy="189738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783455" y="4307235"/>
            <a:ext cx="5001578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მულტისენსორული ინოვაცია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9" name="Text 2"/>
          <p:cNvSpPr/>
          <p:nvPr/>
        </p:nvSpPr>
        <p:spPr>
          <a:xfrm>
            <a:off x="7696520" y="7726680"/>
            <a:ext cx="5995988" cy="62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ცოტნე მაჭარაშვილი, ვაჟა კეკენაძე, დავით მიქავა</a:t>
            </a:r>
            <a:endParaRPr lang="en-US" sz="2400" dirty="0">
              <a:latin typeface="Sylfaen" panose="010A050205030603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2180" y="444849"/>
            <a:ext cx="11326396" cy="814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5100" b="1" dirty="0">
                <a:solidFill>
                  <a:srgbClr val="787878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პროექტის იდეა</a:t>
            </a:r>
            <a:endParaRPr lang="en-US" sz="5100" b="1" dirty="0">
              <a:latin typeface="Sylfaen" panose="010A05020503060303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582963" y="3329241"/>
            <a:ext cx="3577828" cy="40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4000" dirty="0">
                <a:solidFill>
                  <a:srgbClr val="787878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ინოვაციური სინთეზი</a:t>
            </a:r>
            <a:endParaRPr lang="en-US" sz="4000" dirty="0">
              <a:latin typeface="Sylfaen" panose="010A05020503060303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57283" y="4163214"/>
            <a:ext cx="7148989" cy="1317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HoloSense აერთიანებს ჰოლოგრამისა და სურნელის ტექნოლოგიებს ერთ ინტეგრირებულ სისტემაში, სადაც სურნელი სინქრონიზებულია ვიზუალურ კონტენტთან და რეაგირება ხდება ჰოლოგრამაზე წარმოსახულ ობიექტებზე.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60975" y="4288810"/>
            <a:ext cx="714898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57284" y="4874031"/>
            <a:ext cx="714898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860975" y="6033373"/>
            <a:ext cx="714898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250"/>
              </a:lnSpc>
              <a:buSzPct val="100000"/>
            </a:pPr>
            <a:endParaRPr lang="en-US" dirty="0">
              <a:latin typeface="Sylfaen" panose="010A0502050306030303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52075"/>
            <a:ext cx="6648450" cy="3629378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305" y="7703820"/>
            <a:ext cx="2438095" cy="70866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4616" y="0"/>
            <a:ext cx="1875784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7069" y="1006912"/>
            <a:ext cx="7962662" cy="1516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950"/>
              </a:lnSpc>
              <a:buNone/>
            </a:pPr>
            <a:r>
              <a:rPr lang="en-US" sz="4400" b="1" dirty="0">
                <a:solidFill>
                  <a:srgbClr val="787878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იდეის წარმოშობის საფუძვლები</a:t>
            </a:r>
            <a:endParaRPr lang="en-US" sz="4400" b="1" dirty="0">
              <a:latin typeface="Sylfaen" panose="010A0502050306030303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077069" y="2753320"/>
            <a:ext cx="2551867" cy="3249573"/>
          </a:xfrm>
          <a:prstGeom prst="roundRect">
            <a:avLst>
              <a:gd name="adj" fmla="val 9920"/>
            </a:avLst>
          </a:prstGeom>
          <a:solidFill>
            <a:srgbClr val="ECDFE3"/>
          </a:solidFill>
          <a:ln/>
        </p:spPr>
      </p:sp>
      <p:sp>
        <p:nvSpPr>
          <p:cNvPr id="5" name="Text 2"/>
          <p:cNvSpPr/>
          <p:nvPr/>
        </p:nvSpPr>
        <p:spPr>
          <a:xfrm>
            <a:off x="6245781" y="2922032"/>
            <a:ext cx="2214443" cy="75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 err="1">
                <a:solidFill>
                  <a:srgbClr val="000000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ვიზუალური</a:t>
            </a:r>
            <a:r>
              <a:rPr lang="en-US" sz="2350" dirty="0">
                <a:solidFill>
                  <a:srgbClr val="000000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 </a:t>
            </a:r>
            <a:r>
              <a:rPr lang="en-US" sz="2350" dirty="0" err="1">
                <a:solidFill>
                  <a:srgbClr val="000000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დომი</a:t>
            </a:r>
            <a:r>
              <a:rPr lang="ka-GE" sz="2350" dirty="0">
                <a:solidFill>
                  <a:srgbClr val="000000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ნაცია</a:t>
            </a:r>
            <a:endParaRPr lang="en-US" sz="2350" dirty="0">
              <a:latin typeface="Sylfaen" panose="010A050205030603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45781" y="3772019"/>
            <a:ext cx="2214443" cy="1288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კონტენტი დღეს უმეტეს წილად მხოლოდ ვიზუალურია და მხოლოდ ერთ გრძნობას ეფუძნება</a:t>
            </a:r>
            <a:endParaRPr lang="en-US" sz="1600" dirty="0">
              <a:latin typeface="Sylfaen" panose="010A0502050306030303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782407" y="2753320"/>
            <a:ext cx="2551867" cy="3249573"/>
          </a:xfrm>
          <a:prstGeom prst="roundRect">
            <a:avLst>
              <a:gd name="adj" fmla="val 9920"/>
            </a:avLst>
          </a:prstGeom>
          <a:solidFill>
            <a:srgbClr val="ECDFE3"/>
          </a:solidFill>
          <a:ln/>
        </p:spPr>
      </p:sp>
      <p:sp>
        <p:nvSpPr>
          <p:cNvPr id="8" name="Text 5"/>
          <p:cNvSpPr/>
          <p:nvPr/>
        </p:nvSpPr>
        <p:spPr>
          <a:xfrm>
            <a:off x="8782407" y="2922032"/>
            <a:ext cx="2551867" cy="75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მულტისენსორული აღქმა</a:t>
            </a:r>
            <a:endParaRPr lang="en-US" sz="2200" dirty="0">
              <a:latin typeface="Sylfaen" panose="010A050205030603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951119" y="3772019"/>
            <a:ext cx="2214443" cy="2062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ადამიანის აღქმა ბუნებით მულტისენსორულია — ორი ყველაზე მნიშვნელოვანი სენსორული გრძნობის გაერთიანება ამდიდრებს რეალიზმს</a:t>
            </a:r>
            <a:endParaRPr lang="en-US" sz="1600" dirty="0">
              <a:latin typeface="Sylfaen" panose="010A0502050306030303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1487745" y="2753320"/>
            <a:ext cx="2551986" cy="3249573"/>
          </a:xfrm>
          <a:prstGeom prst="roundRect">
            <a:avLst>
              <a:gd name="adj" fmla="val 9920"/>
            </a:avLst>
          </a:prstGeom>
          <a:solidFill>
            <a:srgbClr val="ECDFE3"/>
          </a:solidFill>
          <a:ln/>
        </p:spPr>
      </p:sp>
      <p:sp>
        <p:nvSpPr>
          <p:cNvPr id="11" name="Text 8"/>
          <p:cNvSpPr/>
          <p:nvPr/>
        </p:nvSpPr>
        <p:spPr>
          <a:xfrm>
            <a:off x="11656457" y="2922032"/>
            <a:ext cx="2214563" cy="75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ემოციური კავშირი</a:t>
            </a:r>
            <a:endParaRPr lang="en-US" sz="2350" dirty="0">
              <a:latin typeface="Sylfaen" panose="010A05020503060303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656457" y="3772019"/>
            <a:ext cx="2214563" cy="1546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სურნელი ძლიერად უკავშირდება მეხსიერებასა და ემოციას, ქმნის უფრო ღრმა და დაუვიწყარი გამოცდილებას</a:t>
            </a:r>
            <a:endParaRPr lang="en-US" sz="1600" dirty="0">
              <a:latin typeface="Sylfaen" panose="010A0502050306030303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077069" y="6156365"/>
            <a:ext cx="7962662" cy="1066205"/>
          </a:xfrm>
          <a:prstGeom prst="roundRect">
            <a:avLst>
              <a:gd name="adj" fmla="val 23743"/>
            </a:avLst>
          </a:prstGeom>
          <a:solidFill>
            <a:srgbClr val="ECDFE3"/>
          </a:solidFill>
          <a:ln/>
        </p:spPr>
      </p:sp>
      <p:sp>
        <p:nvSpPr>
          <p:cNvPr id="14" name="Text 11"/>
          <p:cNvSpPr/>
          <p:nvPr/>
        </p:nvSpPr>
        <p:spPr>
          <a:xfrm>
            <a:off x="6245781" y="6325076"/>
            <a:ext cx="3251121" cy="378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უნიკალური მიდგომა</a:t>
            </a:r>
            <a:endParaRPr lang="en-US" sz="2350" dirty="0">
              <a:latin typeface="Sylfaen" panose="010A05020503060303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245781" y="6796088"/>
            <a:ext cx="762523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იდეა უნიკალური და იშვიათია გლობალურ ტექნოლოგიურ ლანდშაფტში</a:t>
            </a:r>
            <a:endParaRPr lang="en-US" sz="1600" dirty="0">
              <a:latin typeface="Sylfaen" panose="010A0502050306030303" pitchFamily="18" charset="0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305" y="7703820"/>
            <a:ext cx="2438095" cy="70866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4616" y="0"/>
            <a:ext cx="1875784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9129" y="2081570"/>
            <a:ext cx="6665952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b="1" dirty="0">
                <a:solidFill>
                  <a:srgbClr val="787878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მიზნები</a:t>
            </a:r>
            <a:endParaRPr lang="en-US" sz="5200" b="1" dirty="0">
              <a:latin typeface="Sylfaen" panose="010A050205030603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9129" y="3471029"/>
            <a:ext cx="3193971" cy="309955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49129" y="3448169"/>
            <a:ext cx="3193971" cy="91440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7" name="Shape 5"/>
          <p:cNvSpPr/>
          <p:nvPr/>
        </p:nvSpPr>
        <p:spPr>
          <a:xfrm>
            <a:off x="1967925" y="3192899"/>
            <a:ext cx="556379" cy="556379"/>
          </a:xfrm>
          <a:prstGeom prst="roundRect">
            <a:avLst>
              <a:gd name="adj" fmla="val 164348"/>
            </a:avLst>
          </a:prstGeom>
          <a:solidFill>
            <a:srgbClr val="C7A2AC"/>
          </a:solidFill>
          <a:ln/>
        </p:spPr>
      </p:sp>
      <p:sp>
        <p:nvSpPr>
          <p:cNvPr id="8" name="Text 6"/>
          <p:cNvSpPr/>
          <p:nvPr/>
        </p:nvSpPr>
        <p:spPr>
          <a:xfrm>
            <a:off x="2134850" y="3331964"/>
            <a:ext cx="222528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1</a:t>
            </a:r>
            <a:endParaRPr lang="en-US" sz="1750" dirty="0">
              <a:latin typeface="Sylfaen" panose="010A050205030603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7369" y="3934658"/>
            <a:ext cx="2777490" cy="832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გამოცდილების გაუმჯობესება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7369" y="4878824"/>
            <a:ext cx="2777490" cy="1483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მომხმარებლის გამოცდილების რადიკალური გაუმჯობესება მულტისენსორული ინტეგრაციის მეშვეობით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028480" y="3471029"/>
            <a:ext cx="3193971" cy="309955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8480" y="3448169"/>
            <a:ext cx="3193971" cy="91440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13" name="Shape 11"/>
          <p:cNvSpPr/>
          <p:nvPr/>
        </p:nvSpPr>
        <p:spPr>
          <a:xfrm>
            <a:off x="5347275" y="3192899"/>
            <a:ext cx="556379" cy="556379"/>
          </a:xfrm>
          <a:prstGeom prst="roundRect">
            <a:avLst>
              <a:gd name="adj" fmla="val 164348"/>
            </a:avLst>
          </a:prstGeom>
          <a:solidFill>
            <a:srgbClr val="C7A2AC"/>
          </a:solidFill>
          <a:ln/>
        </p:spPr>
      </p:sp>
      <p:sp>
        <p:nvSpPr>
          <p:cNvPr id="14" name="Text 12"/>
          <p:cNvSpPr/>
          <p:nvPr/>
        </p:nvSpPr>
        <p:spPr>
          <a:xfrm>
            <a:off x="5514201" y="3331964"/>
            <a:ext cx="222528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2</a:t>
            </a:r>
            <a:endParaRPr lang="en-US" sz="1750" dirty="0">
              <a:latin typeface="Sylfaen" panose="010A050205030603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36720" y="3934658"/>
            <a:ext cx="2777490" cy="832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ჩართულობის გაზრდა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236720" y="4878824"/>
            <a:ext cx="2777490" cy="1186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ჩართულობის მნიშვნელოვანი გაზრდა განათლების, მუზეუმების და გამოფენების სფეროში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07831" y="3471029"/>
            <a:ext cx="3193971" cy="309955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407831" y="3448169"/>
            <a:ext cx="3193971" cy="91440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19" name="Shape 17"/>
          <p:cNvSpPr/>
          <p:nvPr/>
        </p:nvSpPr>
        <p:spPr>
          <a:xfrm>
            <a:off x="8726626" y="3192899"/>
            <a:ext cx="556379" cy="556379"/>
          </a:xfrm>
          <a:prstGeom prst="roundRect">
            <a:avLst>
              <a:gd name="adj" fmla="val 164348"/>
            </a:avLst>
          </a:prstGeom>
          <a:solidFill>
            <a:srgbClr val="C7A2AC"/>
          </a:solidFill>
          <a:ln/>
        </p:spPr>
      </p:sp>
      <p:sp>
        <p:nvSpPr>
          <p:cNvPr id="20" name="Text 18"/>
          <p:cNvSpPr/>
          <p:nvPr/>
        </p:nvSpPr>
        <p:spPr>
          <a:xfrm>
            <a:off x="8893552" y="3331964"/>
            <a:ext cx="222528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3</a:t>
            </a:r>
            <a:endParaRPr lang="en-US" sz="1750" dirty="0">
              <a:latin typeface="Sylfaen" panose="010A05020503060303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16071" y="3934658"/>
            <a:ext cx="2777490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სინქრონიზაცია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16071" y="4462343"/>
            <a:ext cx="2777490" cy="1186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რეალურ დროში ზუსტი სინქრონიზაცია ვიზუალურ და ოლფაქტორულ სიგნალებს შორის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787182" y="3471029"/>
            <a:ext cx="3194090" cy="309955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0787182" y="3448169"/>
            <a:ext cx="3194090" cy="91440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25" name="Shape 23"/>
          <p:cNvSpPr/>
          <p:nvPr/>
        </p:nvSpPr>
        <p:spPr>
          <a:xfrm>
            <a:off x="12105977" y="3192899"/>
            <a:ext cx="556379" cy="556379"/>
          </a:xfrm>
          <a:prstGeom prst="roundRect">
            <a:avLst>
              <a:gd name="adj" fmla="val 164348"/>
            </a:avLst>
          </a:prstGeom>
          <a:solidFill>
            <a:srgbClr val="C7A2AC"/>
          </a:solidFill>
          <a:ln/>
        </p:spPr>
      </p:sp>
      <p:sp>
        <p:nvSpPr>
          <p:cNvPr id="26" name="Text 24"/>
          <p:cNvSpPr/>
          <p:nvPr/>
        </p:nvSpPr>
        <p:spPr>
          <a:xfrm>
            <a:off x="12272903" y="3331964"/>
            <a:ext cx="222528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4</a:t>
            </a:r>
            <a:endParaRPr lang="en-US" sz="1750" dirty="0">
              <a:latin typeface="Sylfaen" panose="010A05020503060303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995422" y="3934658"/>
            <a:ext cx="2777609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მასშტაბირება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995422" y="4462343"/>
            <a:ext cx="2777609" cy="1186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მასშტაბირებადი და ხელმისაწვდომი დიზაინი სხვადასხვა გამოყენების შემთხვევებისთვის</a:t>
            </a:r>
            <a:endParaRPr lang="en-US" sz="1450" dirty="0">
              <a:latin typeface="Sylfaen" panose="010A0502050306030303" pitchFamily="18" charset="0"/>
            </a:endParaRPr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305" y="7703820"/>
            <a:ext cx="2438095" cy="708660"/>
          </a:xfrm>
          <a:prstGeom prst="rect">
            <a:avLst/>
          </a:prstGeom>
        </p:spPr>
      </p:pic>
      <p:pic>
        <p:nvPicPr>
          <p:cNvPr id="30" name="Рисунок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4616" y="0"/>
            <a:ext cx="1875784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4866304"/>
            <a:ext cx="3676394" cy="367639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9129" y="181750"/>
            <a:ext cx="12495371" cy="996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b="1" dirty="0">
                <a:solidFill>
                  <a:srgbClr val="787878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ჰოლოგრამისა და სურნელის ქვესისტემები</a:t>
            </a:r>
            <a:endParaRPr lang="en-US" sz="5200" b="1" dirty="0">
              <a:latin typeface="Sylfaen" panose="010A050205030603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9129" y="2232303"/>
            <a:ext cx="4082772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3200" dirty="0">
                <a:solidFill>
                  <a:srgbClr val="787878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ვიზუალური ქვესისტემა</a:t>
            </a:r>
            <a:endParaRPr lang="en-US" sz="3200" dirty="0">
              <a:latin typeface="Sylfaen" panose="010A050205030603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9129" y="2834164"/>
            <a:ext cx="6439853" cy="1186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ჰოლოგრამა იქმნება სპეციალური ეკრანისა და გამჭვირვალე პირამიდული ოპტიკის მეშვეობით. პროგრამული უზრუნველყოფა მართავს ვიზუალურ ობიექტებს და მათ დინამიკას სამგანზომილებიან სივრცეში.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9129" y="4187905"/>
            <a:ext cx="643985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პეპერის პირამიდული ოპტიკა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9129" y="4549498"/>
            <a:ext cx="643985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დინამიური კონტენტის რენდერინგი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9129" y="4911090"/>
            <a:ext cx="643985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ობიექტების პოზიციონირება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15451" y="2918460"/>
            <a:ext cx="6707029" cy="3522464"/>
          </a:xfrm>
          <a:prstGeom prst="roundRect">
            <a:avLst>
              <a:gd name="adj" fmla="val 12638"/>
            </a:avLst>
          </a:prstGeom>
          <a:solidFill>
            <a:srgbClr val="C7A2AC"/>
          </a:solidFill>
          <a:ln/>
        </p:spPr>
      </p:sp>
      <p:sp>
        <p:nvSpPr>
          <p:cNvPr id="9" name="Text 7"/>
          <p:cNvSpPr/>
          <p:nvPr/>
        </p:nvSpPr>
        <p:spPr>
          <a:xfrm>
            <a:off x="7600831" y="3103840"/>
            <a:ext cx="4927282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ოლფაქტორული ქვესისტემა</a:t>
            </a:r>
            <a:endParaRPr lang="en-US" sz="3200" dirty="0">
              <a:latin typeface="Sylfaen" panose="010A050205030603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00831" y="3705701"/>
            <a:ext cx="6336268" cy="1483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თითოეულ ვიზუალურ ობიექტს შეესაბამება სპეციფიკური სურნელის პროფილი. სურნელის ქვესისტემა მოიცავს კაფსულებს, PTC გამათბობლებს და ჰაერის ტუმბოებს, რომლებიც უზრუნველყოფენ სინქრონულ მუშაობას ვიზუალსა და სურნელს შორის.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00831" y="5356145"/>
            <a:ext cx="6336268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მოდულური კაფსულების სისტემა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00831" y="5717738"/>
            <a:ext cx="6336268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კონტროლირებადი აქტივაცია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00831" y="6079331"/>
            <a:ext cx="6336268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ზუსტი დოზირება</a:t>
            </a:r>
            <a:endParaRPr lang="en-US" dirty="0">
              <a:latin typeface="Sylfaen" panose="010A0502050306030303" pitchFamily="18" charset="0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305" y="7703820"/>
            <a:ext cx="2438095" cy="70866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4616" y="0"/>
            <a:ext cx="1875784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1027272"/>
            <a:ext cx="11967924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b="1" dirty="0">
                <a:solidFill>
                  <a:srgbClr val="787878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სურნელის გამოფრქვევის სისტემა</a:t>
            </a:r>
            <a:endParaRPr lang="en-US" sz="5200" b="1" dirty="0">
              <a:latin typeface="Sylfaen" panose="010A050205030603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9129" y="2532340"/>
            <a:ext cx="185380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Baskervville Light" pitchFamily="34" charset="-122"/>
                <a:cs typeface="Baskervville Light" pitchFamily="34" charset="-120"/>
              </a:rPr>
              <a:t>01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9129" y="2824639"/>
            <a:ext cx="4320421" cy="2286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5" name="Text 3"/>
          <p:cNvSpPr/>
          <p:nvPr/>
        </p:nvSpPr>
        <p:spPr>
          <a:xfrm>
            <a:off x="649129" y="2962989"/>
            <a:ext cx="4295061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კაფსულების განთავსება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9129" y="3490674"/>
            <a:ext cx="4320421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თითო სურნელი განთავსებულია ცალკე იზოლირებულ სლოტში შერევის თავიდან ასაცილებლად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54930" y="2532340"/>
            <a:ext cx="185380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Baskervville Light" pitchFamily="34" charset="-122"/>
                <a:cs typeface="Baskervville Light" pitchFamily="34" charset="-120"/>
              </a:rPr>
              <a:t>02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54930" y="2824639"/>
            <a:ext cx="4320421" cy="2286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9" name="Text 7"/>
          <p:cNvSpPr/>
          <p:nvPr/>
        </p:nvSpPr>
        <p:spPr>
          <a:xfrm>
            <a:off x="5154930" y="2962989"/>
            <a:ext cx="3911441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ka-GE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შთანთქვა</a:t>
            </a: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 და შენახვა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54930" y="3490674"/>
            <a:ext cx="4320421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სპეციალური </a:t>
            </a:r>
            <a:r>
              <a:rPr lang="ka-GE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გამწოვი</a:t>
            </a: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ka-GE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საფენები</a:t>
            </a: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 ინახავს ეთერზეთებს უსაფრთხოდ და სტაბილურად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60731" y="2532340"/>
            <a:ext cx="185380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Baskervville Light" pitchFamily="34" charset="-122"/>
                <a:cs typeface="Baskervville Light" pitchFamily="34" charset="-120"/>
              </a:rPr>
              <a:t>03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60731" y="2824639"/>
            <a:ext cx="4320421" cy="2286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13" name="Text 11"/>
          <p:cNvSpPr/>
          <p:nvPr/>
        </p:nvSpPr>
        <p:spPr>
          <a:xfrm>
            <a:off x="9660731" y="2962989"/>
            <a:ext cx="3579495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თერმული აქტივაცია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60731" y="3490674"/>
            <a:ext cx="4320421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PTC გამათბობლები უზრუნველყოფენ უსაფრთხო და კონტროლირებად თერმულ აქტივაციას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9129" y="4705231"/>
            <a:ext cx="185380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Baskervville Light" pitchFamily="34" charset="-122"/>
                <a:cs typeface="Baskervville Light" pitchFamily="34" charset="-120"/>
              </a:rPr>
              <a:t>04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9129" y="4997529"/>
            <a:ext cx="6573322" cy="2286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17" name="Text 15"/>
          <p:cNvSpPr/>
          <p:nvPr/>
        </p:nvSpPr>
        <p:spPr>
          <a:xfrm>
            <a:off x="649129" y="5135880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დისტრიბუცია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9129" y="5663565"/>
            <a:ext cx="6573322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ჰაერის ტუმბოები ავრცელებენ სურნელს იზოლირებულ არხებში მომხმარებლისთვის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07831" y="4705231"/>
            <a:ext cx="185380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Baskervville Light" pitchFamily="34" charset="-122"/>
                <a:cs typeface="Baskervville Light" pitchFamily="34" charset="-120"/>
              </a:rPr>
              <a:t>05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07831" y="4997529"/>
            <a:ext cx="6573322" cy="2286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21" name="Text 19"/>
          <p:cNvSpPr/>
          <p:nvPr/>
        </p:nvSpPr>
        <p:spPr>
          <a:xfrm>
            <a:off x="7407831" y="5135880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გაწმენდის ციკლი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07831" y="5663565"/>
            <a:ext cx="6573322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purge </a:t>
            </a:r>
            <a:r>
              <a:rPr lang="ka-GE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(წმენდის) </a:t>
            </a:r>
            <a:r>
              <a:rPr lang="en-US" sz="1450" dirty="0" err="1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ციკლები</a:t>
            </a: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 აქტიურად შლიან ნარჩენ სურნელს შემდეგი აქტივაციისთვის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9129" y="6604635"/>
            <a:ext cx="133321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იზოლირებული არხები სრულად გამორიცხავს სხვადასხვა სურნელის შერევას და უზრუნველყოფს სუფთა, ზუსტ სენსორულ გამოცდილებას.</a:t>
            </a:r>
            <a:endParaRPr lang="en-US" sz="1450" dirty="0">
              <a:latin typeface="Sylfaen" panose="010A0502050306030303" pitchFamily="18" charset="0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305" y="7703820"/>
            <a:ext cx="2438095" cy="708660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4616" y="0"/>
            <a:ext cx="1875784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9482" y="486728"/>
            <a:ext cx="7502009" cy="795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b="1" dirty="0">
                <a:solidFill>
                  <a:srgbClr val="787878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Hardware არქიტექტურა</a:t>
            </a:r>
            <a:endParaRPr lang="en-US" sz="5000" b="1" dirty="0">
              <a:latin typeface="Sylfaen" panose="010A05020503060303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82" y="1724978"/>
            <a:ext cx="6479858" cy="51438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60334" y="3689959"/>
            <a:ext cx="1647064" cy="199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Hardware სისტემის არქიტექტურა</a:t>
            </a:r>
            <a:endParaRPr lang="en-US" sz="1900" dirty="0">
              <a:latin typeface="Sylfaen" panose="010A05020503060303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966003" y="2297919"/>
            <a:ext cx="1732382" cy="51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3200" dirty="0">
                <a:latin typeface="Sylfaen" panose="010A0502050306030303" pitchFamily="18" charset="0"/>
              </a:rPr>
              <a:t>ESP32</a:t>
            </a:r>
            <a:endParaRPr lang="en-US" sz="1900" dirty="0">
              <a:solidFill>
                <a:srgbClr val="000000"/>
              </a:solidFill>
              <a:latin typeface="Sylfaen" panose="010A050205030603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927068" y="3148593"/>
            <a:ext cx="1732382" cy="41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ylfaen" panose="010A0502050306030303" pitchFamily="18" charset="0"/>
                <a:cs typeface="Poppins" pitchFamily="34" charset="-120"/>
              </a:rPr>
              <a:t>LCD </a:t>
            </a:r>
            <a:r>
              <a:rPr lang="ka-GE" sz="2000" dirty="0">
                <a:solidFill>
                  <a:srgbClr val="000000"/>
                </a:solidFill>
                <a:latin typeface="Sylfaen" panose="010A0502050306030303" pitchFamily="18" charset="0"/>
                <a:cs typeface="Poppins" pitchFamily="34" charset="-120"/>
              </a:rPr>
              <a:t>პანელი</a:t>
            </a:r>
            <a:endParaRPr lang="en-US" sz="2000" dirty="0">
              <a:latin typeface="Sylfaen" panose="010A050205030603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33622" y="4588545"/>
            <a:ext cx="1732381" cy="765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ჰაერის ტუმბოები</a:t>
            </a:r>
            <a:endParaRPr lang="en-US" sz="1900" dirty="0">
              <a:latin typeface="Sylfaen" panose="010A050205030603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194686" y="5514982"/>
            <a:ext cx="1732382" cy="72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PTC გამათბობლები</a:t>
            </a:r>
            <a:endParaRPr lang="en-US" sz="1900" dirty="0">
              <a:latin typeface="Sylfaen" panose="010A05020503060303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67747" y="4225647"/>
            <a:ext cx="1770251" cy="780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MOSFET დრაივერები</a:t>
            </a:r>
            <a:endParaRPr lang="en-US" sz="1900" dirty="0">
              <a:latin typeface="Sylfaen" panose="010A05020503060303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95752" y="2607722"/>
            <a:ext cx="1770251" cy="1148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ძრავის და ძაბვის მოდულები</a:t>
            </a:r>
            <a:endParaRPr lang="en-US" sz="1900" dirty="0">
              <a:latin typeface="Sylfaen" panose="010A0502050306030303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19482" y="7058739"/>
            <a:ext cx="6479858" cy="553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350" dirty="0">
              <a:latin typeface="Sylfaen" panose="010A0502050306030303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007310" y="1967617"/>
            <a:ext cx="3949660" cy="397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600" dirty="0">
                <a:solidFill>
                  <a:srgbClr val="787878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მთავარი კომპონენტები</a:t>
            </a:r>
            <a:endParaRPr lang="en-US" sz="3600" dirty="0">
              <a:latin typeface="Sylfaen" panose="010A0502050306030303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538680" y="2960603"/>
            <a:ext cx="6479858" cy="553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ESP32 — ცენტრალური მართვის ერთეული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538680" y="3845701"/>
            <a:ext cx="6479858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MOSFET დრაივერები ტუმბოებისა და გამათბობლებისთვის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538680" y="4464130"/>
            <a:ext cx="6479858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PTC გამათბობლები — უსაფრთხო თერმული აქტივაცია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538680" y="5135643"/>
            <a:ext cx="6479858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ჰაერის ტუმბოები და სარქველები — ზუსტი ნაკადის კონტროლი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538680" y="5748100"/>
            <a:ext cx="6479858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კვების მოდულები (12V / 5V) — სტაბილური ენერგომომარაგება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538680" y="6419613"/>
            <a:ext cx="6479858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ტემპერატურის სენსორები და სტატუსის LED-ები </a:t>
            </a:r>
            <a:endParaRPr lang="en-US" dirty="0">
              <a:latin typeface="Sylfaen" panose="010A0502050306030303" pitchFamily="18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305" y="7703820"/>
            <a:ext cx="2438095" cy="70866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4616" y="0"/>
            <a:ext cx="1875784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649129" y="1291709"/>
            <a:ext cx="7547610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b="1" dirty="0">
                <a:solidFill>
                  <a:srgbClr val="787878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Software არქიტექტურა</a:t>
            </a:r>
            <a:endParaRPr lang="en-US" sz="5200" b="1" dirty="0">
              <a:latin typeface="Sylfaen" panose="010A0502050306030303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29" y="2403038"/>
            <a:ext cx="6666071" cy="7418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4509" y="3330297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UI </a:t>
            </a:r>
            <a:r>
              <a:rPr lang="en-US" sz="2600" dirty="0" err="1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აპლიკაცია</a:t>
            </a:r>
            <a:r>
              <a:rPr lang="ka-GE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 </a:t>
            </a: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/</a:t>
            </a:r>
            <a:r>
              <a:rPr lang="ka-GE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 ვებგვერდი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34509" y="3857982"/>
            <a:ext cx="6295311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ჰოლოგრამის მართვის აპლიკაცია ვიზუალური კონტენტის კონტროლისთვის</a:t>
            </a:r>
            <a:endParaRPr lang="en-US" sz="1450" dirty="0">
              <a:latin typeface="Sylfaen" panose="010A0502050306030303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403038"/>
            <a:ext cx="6666071" cy="7418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00580" y="3330297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Firmware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500580" y="3857982"/>
            <a:ext cx="6295311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კონტროლერის firmware რეალურ </a:t>
            </a:r>
            <a:r>
              <a:rPr lang="en-US" sz="1450" dirty="0" err="1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დროში</a:t>
            </a: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ka-GE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მიმდინარე </a:t>
            </a:r>
            <a:r>
              <a:rPr lang="en-US" sz="1450" dirty="0" err="1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პროცესებისთვის</a:t>
            </a:r>
            <a:endParaRPr lang="en-US" sz="1450" dirty="0">
              <a:latin typeface="Sylfaen" panose="010A0502050306030303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129" y="4636770"/>
            <a:ext cx="6666071" cy="7418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4509" y="5564029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კომუნიკაცია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834509" y="6091714"/>
            <a:ext cx="6295311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USB / UART / Wi-Fi კომუნიკაციის პროტოკოლები</a:t>
            </a:r>
            <a:endParaRPr lang="en-US" sz="1450" dirty="0">
              <a:latin typeface="Sylfaen" panose="010A0502050306030303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636770"/>
            <a:ext cx="6666071" cy="74187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500580" y="5564029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სინქრონიზაცია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7500580" y="6091714"/>
            <a:ext cx="6295311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სინქრონიზაციის ლოგიკა და უსაფრთხოების ლიმიტები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649129" y="6782395"/>
            <a:ext cx="13332143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პროგრამული უზრუნველყოფა მოიცავს purge კონტროლის ავტომატიზაციას, ტემპერატურის მონიტორინგს და რეალურ დროში დიაგნოსტიკას სრული სისტემური სტაბილურობისთვის.</a:t>
            </a:r>
            <a:endParaRPr lang="en-US" sz="1450" dirty="0">
              <a:latin typeface="Sylfaen" panose="010A0502050306030303" pitchFamily="18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305" y="7703820"/>
            <a:ext cx="2438095" cy="708660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4616" y="0"/>
            <a:ext cx="1875784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872609"/>
            <a:ext cx="8358068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b="1" dirty="0">
                <a:solidFill>
                  <a:srgbClr val="787878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ტექნიკური გამოწვევები</a:t>
            </a:r>
            <a:endParaRPr lang="en-US" sz="5200" b="1" dirty="0">
              <a:latin typeface="Sylfaen" panose="010A050205030603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9129" y="2076688"/>
            <a:ext cx="6573322" cy="1834277"/>
          </a:xfrm>
          <a:prstGeom prst="roundRect">
            <a:avLst>
              <a:gd name="adj" fmla="val 5982"/>
            </a:avLst>
          </a:prstGeom>
          <a:solidFill>
            <a:srgbClr val="FFFFFF"/>
          </a:solidFill>
          <a:ln w="22860">
            <a:solidFill>
              <a:srgbClr val="D2C5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6269" y="2076688"/>
            <a:ext cx="91440" cy="1834277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5" name="Text 3"/>
          <p:cNvSpPr/>
          <p:nvPr/>
        </p:nvSpPr>
        <p:spPr>
          <a:xfrm>
            <a:off x="925949" y="2284928"/>
            <a:ext cx="4099084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სურნელების იზოლაცია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25949" y="2812613"/>
            <a:ext cx="6088261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სურნელების შერევის თავიდან აცილება მოითხოვს </a:t>
            </a:r>
            <a:r>
              <a:rPr lang="ka-GE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დამოუკიდებელი</a:t>
            </a: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 არხების დიზაინს და იზოლაციის პროტოკოლებს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07831" y="2076688"/>
            <a:ext cx="6573441" cy="1834277"/>
          </a:xfrm>
          <a:prstGeom prst="roundRect">
            <a:avLst>
              <a:gd name="adj" fmla="val 5982"/>
            </a:avLst>
          </a:prstGeom>
          <a:solidFill>
            <a:srgbClr val="FFFFFF"/>
          </a:solidFill>
          <a:ln w="22860">
            <a:solidFill>
              <a:srgbClr val="D2C5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84971" y="2076688"/>
            <a:ext cx="91440" cy="1834277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9" name="Text 7"/>
          <p:cNvSpPr/>
          <p:nvPr/>
        </p:nvSpPr>
        <p:spPr>
          <a:xfrm>
            <a:off x="7684651" y="2284928"/>
            <a:ext cx="4191714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გაწმენდის ეფექტურობა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84651" y="2812613"/>
            <a:ext cx="6088380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ნარჩენი სურნელის სრული გამოდევნა purge ციკლების ოპტიმიზაციის მეშვეობით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9129" y="4096345"/>
            <a:ext cx="6573322" cy="1537573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22860">
            <a:solidFill>
              <a:srgbClr val="D2C5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269" y="4096345"/>
            <a:ext cx="91440" cy="1537573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13" name="Text 11"/>
          <p:cNvSpPr/>
          <p:nvPr/>
        </p:nvSpPr>
        <p:spPr>
          <a:xfrm>
            <a:off x="925949" y="4304586"/>
            <a:ext cx="343959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თერმული </a:t>
            </a:r>
            <a:r>
              <a:rPr lang="ka-GE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სიზუსტე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25949" y="4832271"/>
            <a:ext cx="6088261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ტემპერატურის ზუსტი კონტროლი PTC გამათბობლებში ოპტიმალური </a:t>
            </a:r>
            <a:r>
              <a:rPr lang="ka-GE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სითბოსთვის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07831" y="4096345"/>
            <a:ext cx="6573441" cy="1537573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22860">
            <a:solidFill>
              <a:srgbClr val="D2C5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84971" y="4096345"/>
            <a:ext cx="91440" cy="1537573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17" name="Text 15"/>
          <p:cNvSpPr/>
          <p:nvPr/>
        </p:nvSpPr>
        <p:spPr>
          <a:xfrm>
            <a:off x="7684651" y="4304586"/>
            <a:ext cx="4430673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ჰაერის ნაკადის დინამიკა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84651" y="4832271"/>
            <a:ext cx="6088380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ჰაერის ნაკადის რეგულირება თითოეული არხისთვის ერთგვაროვანი დისტრიბუციის მისაღწევად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9129" y="5819299"/>
            <a:ext cx="6573322" cy="1537573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22860">
            <a:solidFill>
              <a:srgbClr val="D2C5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269" y="5819299"/>
            <a:ext cx="91440" cy="1537573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21" name="Text 19"/>
          <p:cNvSpPr/>
          <p:nvPr/>
        </p:nvSpPr>
        <p:spPr>
          <a:xfrm>
            <a:off x="925949" y="6027539"/>
            <a:ext cx="4005739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დროის სინქრონიზაცია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25949" y="6555224"/>
            <a:ext cx="6088261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რეალურ დროში სინქრონიზაცია ვიზუალურ და ოლფაქტორულ სიგნალებს შორის</a:t>
            </a:r>
            <a:endParaRPr lang="en-US" sz="1450" dirty="0">
              <a:latin typeface="Sylfaen" panose="010A05020503060303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407831" y="5819299"/>
            <a:ext cx="6573441" cy="1537573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22860">
            <a:solidFill>
              <a:srgbClr val="D2C5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84971" y="5819299"/>
            <a:ext cx="91440" cy="1537573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25" name="Text 23"/>
          <p:cNvSpPr/>
          <p:nvPr/>
        </p:nvSpPr>
        <p:spPr>
          <a:xfrm>
            <a:off x="7684651" y="6027539"/>
            <a:ext cx="3428881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კომპაქტური ფორმა</a:t>
            </a:r>
            <a:endParaRPr lang="en-US" sz="2600" dirty="0">
              <a:latin typeface="Sylfaen" panose="010A05020503060303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84651" y="6555224"/>
            <a:ext cx="6088380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კომპაქტური დიზაინი ფუნქციონალურობისა და ესთეტიკის შენარჩუნებით</a:t>
            </a:r>
            <a:endParaRPr lang="en-US" sz="1450" dirty="0">
              <a:latin typeface="Sylfaen" panose="010A0502050306030303" pitchFamily="18" charset="0"/>
            </a:endParaRP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305" y="7703820"/>
            <a:ext cx="2438095" cy="708660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4616" y="0"/>
            <a:ext cx="1875784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293" y="497562"/>
            <a:ext cx="12121323" cy="690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ka-GE" sz="4350" b="1" dirty="0">
                <a:solidFill>
                  <a:srgbClr val="787878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შესაძლო </a:t>
            </a:r>
            <a:r>
              <a:rPr lang="en-US" sz="4350" b="1" dirty="0" err="1">
                <a:solidFill>
                  <a:srgbClr val="787878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გამოყენების</a:t>
            </a:r>
            <a:r>
              <a:rPr lang="en-US" sz="4350" b="1" dirty="0">
                <a:solidFill>
                  <a:srgbClr val="787878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 </a:t>
            </a:r>
            <a:r>
              <a:rPr lang="en-US" sz="4350" b="1" dirty="0" err="1">
                <a:solidFill>
                  <a:srgbClr val="787878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სფეროები</a:t>
            </a:r>
            <a:endParaRPr lang="en-US" sz="4350" b="1" dirty="0">
              <a:latin typeface="Sylfaen" panose="010A05020503060303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93" y="1876859"/>
            <a:ext cx="2244154" cy="22441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6401" y="4769016"/>
            <a:ext cx="3693380" cy="504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8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განათლება</a:t>
            </a:r>
            <a:endParaRPr lang="en-US" sz="2800" dirty="0">
              <a:latin typeface="Sylfaen" panose="010A05020503060303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36401" y="5460965"/>
            <a:ext cx="2763561" cy="2375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ბიოლოგია, ქიმია, ისტორია — იმერსიული გაკვეთილები მულტისენსორული ელემენტებით</a:t>
            </a:r>
            <a:endParaRPr lang="en-US" dirty="0">
              <a:latin typeface="Sylfaen" panose="010A0502050306030303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008" y="1905723"/>
            <a:ext cx="2244154" cy="22441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23480" y="4769016"/>
            <a:ext cx="4930578" cy="690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მუზეუმები და გამოფენები</a:t>
            </a:r>
            <a:endParaRPr lang="en-US" sz="2800" dirty="0">
              <a:latin typeface="Sylfaen" panose="010A0502050306030303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478674" y="5459817"/>
            <a:ext cx="3881211" cy="1073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ექსპოზიციების გამდიდრება სურნელით და ჰოლოგრამით ისტორიული ავთენტურობისთვის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7394853" y="3190875"/>
            <a:ext cx="3221474" cy="690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2400" dirty="0">
              <a:latin typeface="Sylfaen" panose="010A0502050306030303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394853" y="3958114"/>
            <a:ext cx="3221474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400" dirty="0">
              <a:latin typeface="Sylfaen" panose="010A0502050306030303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4774" y="1876859"/>
            <a:ext cx="2244154" cy="22441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380684" y="4874231"/>
            <a:ext cx="2763560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dirty="0">
                <a:solidFill>
                  <a:srgbClr val="6E6666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მარკეტინგი</a:t>
            </a:r>
            <a:endParaRPr lang="en-US" sz="2800" dirty="0">
              <a:latin typeface="Sylfaen" panose="010A0502050306030303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0151727" y="5460965"/>
            <a:ext cx="3686936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6E6666"/>
                </a:solidFill>
                <a:latin typeface="Sylfaen" panose="010A0502050306030303" pitchFamily="18" charset="0"/>
                <a:ea typeface="Poppins" pitchFamily="34" charset="-122"/>
                <a:cs typeface="Poppins" pitchFamily="34" charset="-120"/>
              </a:rPr>
              <a:t>პროდუქტის დემონსტრაციები და ბრენდული გამოცდილებები დაუვიწყარი შთაბეჭდილებით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633293" y="6635710"/>
            <a:ext cx="2763560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2400" dirty="0">
              <a:latin typeface="Sylfaen" panose="010A0502050306030303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633293" y="7057549"/>
            <a:ext cx="3221474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200" dirty="0">
              <a:latin typeface="Sylfaen" panose="010A0502050306030303" pitchFamily="18" charset="0"/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305" y="7703820"/>
            <a:ext cx="2438095" cy="708660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4616" y="0"/>
            <a:ext cx="1875784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9482" y="486728"/>
            <a:ext cx="7502009" cy="795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ka-GE" sz="5000" b="1" dirty="0">
                <a:solidFill>
                  <a:srgbClr val="787878"/>
                </a:solidFill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პროექტის ბიუჯეტი</a:t>
            </a:r>
            <a:endParaRPr lang="en-US" sz="5000" b="1" dirty="0">
              <a:latin typeface="Sylfaen" panose="010A0502050306030303" pitchFamily="18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305" y="7703820"/>
            <a:ext cx="2438095" cy="52578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4616" y="0"/>
            <a:ext cx="1875784" cy="18973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93D859-7C4D-433C-BAF9-2F68551D0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11" y="2531240"/>
            <a:ext cx="11157486" cy="443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317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8" y="872609"/>
            <a:ext cx="12105487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6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a-GE" sz="5200" b="1" i="0" u="none" strike="noStrike" kern="1200" cap="none" spc="0" normalizeH="0" baseline="0" noProof="0" dirty="0">
                <a:ln>
                  <a:noFill/>
                </a:ln>
                <a:solidFill>
                  <a:srgbClr val="787878"/>
                </a:solidFill>
                <a:effectLst/>
                <a:uLnTx/>
                <a:uFillTx/>
                <a:latin typeface="Sylfaen" panose="010A0502050306030303" pitchFamily="18" charset="0"/>
                <a:ea typeface="Baskervville" pitchFamily="34" charset="-122"/>
                <a:cs typeface="Baskervville" pitchFamily="34" charset="-120"/>
              </a:rPr>
              <a:t>საქმის განაწილება</a:t>
            </a:r>
            <a:endParaRPr kumimoji="0" lang="en-US" sz="5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ylfaen" panose="010A0502050306030303" pitchFamily="18" charset="0"/>
              <a:ea typeface="+mn-ea"/>
              <a:cs typeface="+mn-cs"/>
            </a:endParaRP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305" y="7703820"/>
            <a:ext cx="2438095" cy="708660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4616" y="0"/>
            <a:ext cx="1875784" cy="189738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3396A77-CFC9-4F95-85DE-CAF5FBAC65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614" y="2140771"/>
            <a:ext cx="10277019" cy="578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5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14500" y="3171021"/>
            <a:ext cx="117500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a-GE" sz="6000" dirty="0"/>
              <a:t>მადლობა ყურადღებისთვის!</a:t>
            </a:r>
            <a:endParaRPr lang="en-US" sz="6000" dirty="0"/>
          </a:p>
        </p:txBody>
      </p:sp>
      <p:pic>
        <p:nvPicPr>
          <p:cNvPr id="3" name="Рисунок 27">
            <a:extLst>
              <a:ext uri="{FF2B5EF4-FFF2-40B4-BE49-F238E27FC236}">
                <a16:creationId xmlns:a16="http://schemas.microsoft.com/office/drawing/2014/main" id="{C60165F0-239C-2E29-5DDF-E429E3032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4616" y="0"/>
            <a:ext cx="1875784" cy="189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996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507</Words>
  <Application>Microsoft Office PowerPoint</Application>
  <PresentationFormat>Custom</PresentationFormat>
  <Paragraphs>116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Black</vt:lpstr>
      <vt:lpstr>Arial</vt:lpstr>
      <vt:lpstr>Sylfaen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Vazha Kekenadze</dc:creator>
  <cp:lastModifiedBy>davit mikava</cp:lastModifiedBy>
  <cp:revision>13</cp:revision>
  <dcterms:created xsi:type="dcterms:W3CDTF">2026-01-27T22:13:59Z</dcterms:created>
  <dcterms:modified xsi:type="dcterms:W3CDTF">2026-02-10T15:45:23Z</dcterms:modified>
</cp:coreProperties>
</file>