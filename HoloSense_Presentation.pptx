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62" r:id="rId6"/>
    <p:sldId id="263" r:id="rId7"/>
    <p:sldId id="269" r:id="rId8"/>
    <p:sldId id="270" r:id="rId9"/>
    <p:sldId id="268" r:id="rId10"/>
    <p:sldId id="259" r:id="rId11"/>
    <p:sldId id="260" r:id="rId12"/>
    <p:sldId id="265" r:id="rId13"/>
    <p:sldId id="266" r:id="rId14"/>
    <p:sldId id="267" r:id="rId1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jl6XZ1Eua4KdkZEcphv8ckUZXF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F170F17-02A5-40CE-A733-9199EC178EF2}">
  <a:tblStyle styleId="{7F170F17-02A5-40CE-A733-9199EC178E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41915ac8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g3f41915ac81_0_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f41915ac81_0_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330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7955280" y="-2011680"/>
            <a:ext cx="6400800" cy="6400800"/>
          </a:xfrm>
          <a:prstGeom prst="ellipse">
            <a:avLst/>
          </a:prstGeom>
          <a:solidFill>
            <a:srgbClr val="4FD8E0">
              <a:alpha val="1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FF7A45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822960" y="15544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D8E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FD8E0"/>
                </a:solidFill>
                <a:latin typeface="Calibri"/>
                <a:ea typeface="Calibri"/>
                <a:cs typeface="Calibri"/>
                <a:sym typeface="Calibri"/>
              </a:rPr>
              <a:t>CE490B  ·  დამამთავრებელი კურსის პროექტი 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77240" y="1965960"/>
            <a:ext cx="91440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mbria"/>
              <a:buNone/>
            </a:pPr>
            <a:r>
              <a:rPr lang="en-US" sz="6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HoloSense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D2EE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D8D2EE"/>
                </a:solidFill>
                <a:latin typeface="Calibri"/>
                <a:ea typeface="Calibri"/>
                <a:cs typeface="Calibri"/>
                <a:sym typeface="Calibri"/>
              </a:rPr>
              <a:t>ჰოლოგრაფიული ვიზუალიზაცია + სინქრონიზებული სურნელის მიწოდება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1"/>
          <p:cNvCxnSpPr/>
          <p:nvPr/>
        </p:nvCxnSpPr>
        <p:spPr>
          <a:xfrm>
            <a:off x="822960" y="3977640"/>
            <a:ext cx="2926080" cy="0"/>
          </a:xfrm>
          <a:prstGeom prst="straightConnector1">
            <a:avLst/>
          </a:prstGeom>
          <a:noFill/>
          <a:ln w="25400" cap="flat" cmpd="sng">
            <a:solidFill>
              <a:srgbClr val="FF7A4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1"/>
          <p:cNvSpPr/>
          <p:nvPr/>
        </p:nvSpPr>
        <p:spPr>
          <a:xfrm>
            <a:off x="822960" y="42062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D8E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FD8E0"/>
                </a:solidFill>
                <a:latin typeface="Calibri"/>
                <a:ea typeface="Calibri"/>
                <a:cs typeface="Calibri"/>
                <a:sym typeface="Calibri"/>
              </a:rPr>
              <a:t>გუნდის წევრები: 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ცოტნე მაჭარაშვილი  ·  ვაჟა კეკენაძე  ·  დავით მიქავა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46177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D8E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FD8E0"/>
                </a:solidFill>
                <a:latin typeface="Calibri"/>
                <a:ea typeface="Calibri"/>
                <a:cs typeface="Calibri"/>
                <a:sym typeface="Calibri"/>
              </a:rPr>
              <a:t>ხელმძღვანელები: </a:t>
            </a: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პროფ. დავით ჩხაიძე, პროფ. გიორგი მოდებაძე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9CC7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69CC7"/>
                </a:solidFill>
                <a:latin typeface="Calibri"/>
                <a:ea typeface="Calibri"/>
                <a:cs typeface="Calibri"/>
                <a:sym typeface="Calibri"/>
              </a:rPr>
              <a:t>ილიას სახელმწიფო უნივერსიტეტი  ·  ტექნოლოგიების სკოლა  ·  </a:t>
            </a:r>
            <a:r>
              <a:rPr lang="en-US" sz="1200">
                <a:solidFill>
                  <a:srgbClr val="A69CC7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r>
              <a:rPr lang="en-US" sz="1200" b="0" i="0" u="none" strike="noStrike" cap="none">
                <a:solidFill>
                  <a:srgbClr val="A69CC7"/>
                </a:solidFill>
                <a:latin typeface="Calibri"/>
                <a:ea typeface="Calibri"/>
                <a:cs typeface="Calibri"/>
                <a:sym typeface="Calibri"/>
              </a:rPr>
              <a:t>/0</a:t>
            </a:r>
            <a:r>
              <a:rPr lang="en-US" sz="1200">
                <a:solidFill>
                  <a:srgbClr val="A69CC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1200" b="0" i="0" u="none" strike="noStrike" cap="none">
                <a:solidFill>
                  <a:srgbClr val="A69CC7"/>
                </a:solidFill>
                <a:latin typeface="Calibri"/>
                <a:ea typeface="Calibri"/>
                <a:cs typeface="Calibri"/>
                <a:sym typeface="Calibri"/>
              </a:rPr>
              <a:t>/2026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3200"/>
              <a:buFont typeface="Cambria"/>
              <a:buNone/>
            </a:pPr>
            <a:r>
              <a:rPr lang="en-US" sz="320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რატომ მხოლოდ ხედვა?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40080" y="1097280"/>
            <a:ext cx="66751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ჰოლოგრამები საოცრად წარმოაჩენენ კონტენტს, მაგრამ ადამიანის აღქმა ერთ არხზე არ შემოიფარგლება — ყნოსვა პირდაპირ უკავშირდება მეხსიერებასა და ემოციას.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40080" y="237744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3D2C6B"/>
          </a:solidFill>
          <a:ln>
            <a:noFill/>
          </a:ln>
          <a:effectLst>
            <a:outerShdw blurRad="101600" dist="38100" dir="54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2" descr="icons/ey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120" y="269748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960120" y="34290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ვიზუალური არხი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960120" y="3840480"/>
            <a:ext cx="27432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DFF5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4DFF5"/>
                </a:solidFill>
                <a:latin typeface="Calibri"/>
                <a:ea typeface="Calibri"/>
                <a:cs typeface="Calibri"/>
                <a:sym typeface="Calibri"/>
              </a:rPr>
              <a:t>კომერციულად ხელმისაწვდომი ჰოლოგრამები (Pepper's Ghost) ფოკუსირებულია მხოლოდ სამგანზომილებიანი გამოსახულების ხარისხზე.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60520" y="237744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FF7A45"/>
          </a:solidFill>
          <a:ln>
            <a:noFill/>
          </a:ln>
          <a:effectLst>
            <a:outerShdw blurRad="101600" dist="38100" dir="54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2" descr="icons/wind_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0560" y="269748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4480560" y="34290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ყნოსვითი არხი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480560" y="3840480"/>
            <a:ext cx="27432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0E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0E8"/>
                </a:solidFill>
                <a:latin typeface="Calibri"/>
                <a:ea typeface="Calibri"/>
                <a:cs typeface="Calibri"/>
                <a:sym typeface="Calibri"/>
              </a:rPr>
              <a:t>ყნოსვითი სტიმულები იწვევს გაცილებით ძლიერ და ხანგრძლივ მეხსიერებით რეაქციებს, ვიდრე ვიზუალური ან აუდიო სტიმული.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680960" y="2377440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F3F1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001000" y="26517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HoloSense-ის იდეა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001000" y="3154680"/>
            <a:ext cx="329184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ხიდი ორ ყველაზე ძლიერ გრძნობას შორის —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6E669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ჰოლოგრაფიული კონტენტი რეალურ დროში ააქტიურებს შესაბამის სუნის არხს, მინიმალური დაყოვნებით.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3200"/>
              <a:buFont typeface="Cambria"/>
              <a:buNone/>
            </a:pPr>
            <a:r>
              <a:rPr lang="en-US" sz="320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საინჟინრო მიზნები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640080" y="10972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პროექტის ამოცანა: ფუნქციური პროტოტიპის დიზაინი, აგება და შეფასება სინქრონიზებული ვიზუალურ-ყნოსვითი გამოცდილებისთვის.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40080" y="1965960"/>
            <a:ext cx="3413760" cy="1828800"/>
          </a:xfrm>
          <a:prstGeom prst="roundRect">
            <a:avLst>
              <a:gd name="adj" fmla="val 5000"/>
            </a:avLst>
          </a:prstGeom>
          <a:solidFill>
            <a:srgbClr val="F3F1F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3D2C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" name="Google Shape;48;p3" descr="icons/diagr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552" y="231343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1508760" y="2148840"/>
            <a:ext cx="2362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1300"/>
              <a:buFont typeface="Cambria"/>
              <a:buNone/>
            </a:pPr>
            <a:r>
              <a:rPr lang="en-US" sz="130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საიმედო ჰოლოგრაფიული ვიზუალიზაცია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68680" y="2834640"/>
            <a:ext cx="295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მდგრადი, მკაფიო ოთხმხრივი ჰოლოგრაფიული ასახვის პლატფორმა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373880" y="1965960"/>
            <a:ext cx="3413760" cy="1828800"/>
          </a:xfrm>
          <a:prstGeom prst="roundRect">
            <a:avLst>
              <a:gd name="adj" fmla="val 5000"/>
            </a:avLst>
          </a:prstGeom>
          <a:solidFill>
            <a:srgbClr val="F3F1F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602480" y="2194560"/>
            <a:ext cx="502920" cy="502920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" name="Google Shape;53;p3" descr="icons/win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1352" y="231343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/>
          <p:nvPr/>
        </p:nvSpPr>
        <p:spPr>
          <a:xfrm>
            <a:off x="5242560" y="2148840"/>
            <a:ext cx="2362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1300"/>
              <a:buFont typeface="Cambria"/>
              <a:buNone/>
            </a:pPr>
            <a:r>
              <a:rPr lang="en-US" sz="130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ელექტრონულად კონტროლირებადი სუნის მიწოდება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602480" y="2834640"/>
            <a:ext cx="295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5 დამოუკიდებელი არხი ცალკეული აქტივაციით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107680" y="1965960"/>
            <a:ext cx="3413760" cy="1828800"/>
          </a:xfrm>
          <a:prstGeom prst="roundRect">
            <a:avLst>
              <a:gd name="adj" fmla="val 5000"/>
            </a:avLst>
          </a:prstGeom>
          <a:solidFill>
            <a:srgbClr val="F3F1F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8336280" y="2194560"/>
            <a:ext cx="502920" cy="502920"/>
          </a:xfrm>
          <a:prstGeom prst="ellipse">
            <a:avLst/>
          </a:prstGeom>
          <a:solidFill>
            <a:srgbClr val="3D2C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3" descr="icons/bol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5152" y="231343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8976360" y="2148840"/>
            <a:ext cx="2362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1300"/>
              <a:buFont typeface="Cambria"/>
              <a:buNone/>
            </a:pPr>
            <a:r>
              <a:rPr lang="en-US" sz="130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რეალურ დროში სინქრონიზაცია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336280" y="2834640"/>
            <a:ext cx="295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ვიზუალურ მოვლენასა და სუნის აქტივაციას შორის მინიმალური დაყოვნება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40080" y="4114800"/>
            <a:ext cx="3413760" cy="1828800"/>
          </a:xfrm>
          <a:prstGeom prst="roundRect">
            <a:avLst>
              <a:gd name="adj" fmla="val 5000"/>
            </a:avLst>
          </a:prstGeom>
          <a:solidFill>
            <a:srgbClr val="F3F1F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868680" y="4343400"/>
            <a:ext cx="502920" cy="502920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" name="Google Shape;63;p3" descr="icons/shiel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7552" y="446227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1508760" y="4297680"/>
            <a:ext cx="2362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1300"/>
              <a:buFont typeface="Cambria"/>
              <a:buNone/>
            </a:pPr>
            <a:r>
              <a:rPr lang="en-US" sz="130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არხებს შორის შერევის აცილება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68680" y="4983480"/>
            <a:ext cx="295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იზოლირებული ჰაერის ნაკადები და გაწმენდის ციკლი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373880" y="4114800"/>
            <a:ext cx="3413760" cy="1828800"/>
          </a:xfrm>
          <a:prstGeom prst="roundRect">
            <a:avLst>
              <a:gd name="adj" fmla="val 5000"/>
            </a:avLst>
          </a:prstGeom>
          <a:solidFill>
            <a:srgbClr val="F3F1F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602480" y="4343400"/>
            <a:ext cx="502920" cy="502920"/>
          </a:xfrm>
          <a:prstGeom prst="ellipse">
            <a:avLst/>
          </a:prstGeom>
          <a:solidFill>
            <a:srgbClr val="3D2C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3" descr="icons/cogs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21352" y="446227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5242560" y="4297680"/>
            <a:ext cx="2362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1300"/>
              <a:buFont typeface="Cambria"/>
              <a:buNone/>
            </a:pPr>
            <a:r>
              <a:rPr lang="en-US" sz="130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მოდულური არქიტექტურა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602480" y="4983480"/>
            <a:ext cx="295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მარტივი მოვლა, შეცვლა და მომავალში გაფართოება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107680" y="4114800"/>
            <a:ext cx="3413760" cy="1828800"/>
          </a:xfrm>
          <a:prstGeom prst="roundRect">
            <a:avLst>
              <a:gd name="adj" fmla="val 5000"/>
            </a:avLst>
          </a:prstGeom>
          <a:solidFill>
            <a:srgbClr val="F3F1F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8336280" y="4343400"/>
            <a:ext cx="502920" cy="502920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3" descr="icons/check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55152" y="446227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8976360" y="4297680"/>
            <a:ext cx="2362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1300"/>
              <a:buFont typeface="Cambria"/>
              <a:buNone/>
            </a:pPr>
            <a:r>
              <a:rPr lang="en-US" sz="130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უსაფრთხო ექსპლუატაცია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336280" y="4983480"/>
            <a:ext cx="295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ნორმალური გამოყენების პირობებში სრული უსაფრთხოება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სისტემის ბლოკ-სქემა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40080" y="8686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ორი პარალელური ქვესისტემა — ჰოლოგრაფიული ვიზუალიზაცია და სუნის მართვის მოდული — ერთი კომუნიკაციის ბირთვის გარშემო.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575313" y="1463040"/>
            <a:ext cx="9041070" cy="5394960"/>
          </a:xfrm>
          <a:prstGeom prst="roundRect">
            <a:avLst>
              <a:gd name="adj" fmla="val 1356"/>
            </a:avLst>
          </a:prstGeom>
          <a:solidFill>
            <a:srgbClr val="F3F1F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5" descr="img-0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2473" y="1600200"/>
            <a:ext cx="8766750" cy="51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640080" y="45720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კომპონენტები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" name="Google Shape;128;p8"/>
          <p:cNvGraphicFramePr/>
          <p:nvPr/>
        </p:nvGraphicFramePr>
        <p:xfrm>
          <a:off x="640080" y="1188720"/>
          <a:ext cx="5691775" cy="5212125"/>
        </p:xfrm>
        <a:graphic>
          <a:graphicData uri="http://schemas.openxmlformats.org/drawingml/2006/table">
            <a:tbl>
              <a:tblPr>
                <a:noFill/>
                <a:tableStyleId>{7F170F17-02A5-40CE-A733-9199EC178EF2}</a:tableStyleId>
              </a:tblPr>
              <a:tblGrid>
                <a:gridCol w="426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მოწყობილობა / დეტალი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D2C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რაოდ.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D2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ESP32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ჰაერის ტუმბო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კერამიკული გამათბობლები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ძაბვის დამგდები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ძრავის დრაივერი BTS7960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მოსფეტი IRFZ44N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არომატული ეთერზეთები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3მმ გამჭვირვალე ორგმინა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1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19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231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DF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9" name="Google Shape;129;p8"/>
          <p:cNvSpPr/>
          <p:nvPr/>
        </p:nvSpPr>
        <p:spPr>
          <a:xfrm>
            <a:off x="7818120" y="1188720"/>
            <a:ext cx="3703320" cy="5212080"/>
          </a:xfrm>
          <a:prstGeom prst="roundRect">
            <a:avLst>
              <a:gd name="adj" fmla="val 2963"/>
            </a:avLst>
          </a:prstGeom>
          <a:solidFill>
            <a:srgbClr val="1B13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8092440" y="14173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D8E0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rgbClr val="4FD8E0"/>
                </a:solidFill>
                <a:latin typeface="Cambria"/>
                <a:ea typeface="Cambria"/>
                <a:cs typeface="Cambria"/>
                <a:sym typeface="Cambria"/>
              </a:rPr>
              <a:t>შერჩევის ლოგიკა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8092440" y="1920240"/>
            <a:ext cx="3246120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4DFF5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E4DFF5"/>
                </a:solidFill>
                <a:latin typeface="Calibri"/>
                <a:ea typeface="Calibri"/>
                <a:cs typeface="Calibri"/>
                <a:sym typeface="Calibri"/>
              </a:rPr>
              <a:t>ESP32 — Wi-Fi/Bluetooth მხარდაჭერით, დაბალი სიმძლავრით და ცნობილი საიმედოობით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Clr>
                <a:srgbClr val="E4DFF5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E4DFF5"/>
                </a:solidFill>
                <a:latin typeface="Calibri"/>
                <a:ea typeface="Calibri"/>
                <a:cs typeface="Calibri"/>
                <a:sym typeface="Calibri"/>
              </a:rPr>
              <a:t>კერამიკული გამათბობლები აჩქარებენ ეთეროვანი ზეთის დიფუზიას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Clr>
                <a:srgbClr val="E4DFF5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E4DFF5"/>
                </a:solidFill>
                <a:latin typeface="Calibri"/>
                <a:ea typeface="Calibri"/>
                <a:cs typeface="Calibri"/>
                <a:sym typeface="Calibri"/>
              </a:rPr>
              <a:t>ჰაერის ტუმბოები უზრუნველყოფენ სუნის მყისიერ მიწოდებას მომხმარებლისკენ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Clr>
                <a:srgbClr val="E4DFF5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E4DFF5"/>
                </a:solidFill>
                <a:latin typeface="Calibri"/>
                <a:ea typeface="Calibri"/>
                <a:cs typeface="Calibri"/>
                <a:sym typeface="Calibri"/>
              </a:rPr>
              <a:t>გამჭვირვალე ორგმინის პირამიდა ოთხმხრივ ჰოლოგრაფიულ ასახვას ქმნის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3284220" y="81863"/>
            <a:ext cx="5623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3000"/>
              <a:buFont typeface="Cambria"/>
              <a:buNone/>
            </a:pPr>
            <a:r>
              <a:rPr lang="ka-GE" sz="3000" b="1" dirty="0">
                <a:solidFill>
                  <a:srgbClr val="231942"/>
                </a:solidFill>
                <a:latin typeface="Calibri"/>
                <a:ea typeface="Cambria"/>
                <a:cs typeface="Calibri"/>
                <a:sym typeface="Cambria"/>
              </a:rPr>
              <a:t>პროექტის ელექტრული წრედი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0" y="813816"/>
            <a:ext cx="12192000" cy="6044184"/>
          </a:xfrm>
          <a:prstGeom prst="roundRect">
            <a:avLst>
              <a:gd name="adj" fmla="val 2627"/>
            </a:avLst>
          </a:prstGeom>
          <a:solidFill>
            <a:srgbClr val="F3F1F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9" name="Google Shape;139;p6" descr="img-00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901" y="1180443"/>
            <a:ext cx="11654117" cy="544876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/>
          <p:nvPr/>
        </p:nvSpPr>
        <p:spPr>
          <a:xfrm>
            <a:off x="7040880" y="3903345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150"/>
              <a:buFont typeface="Calibri"/>
              <a:buNone/>
            </a:pP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4BD287-4545-7440-9896-1A3EC481E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652" y="1088062"/>
            <a:ext cx="6800088" cy="55779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E1757D-A427-8E8B-C529-6DED910834FF}"/>
              </a:ext>
            </a:extLst>
          </p:cNvPr>
          <p:cNvSpPr txBox="1"/>
          <p:nvPr/>
        </p:nvSpPr>
        <p:spPr>
          <a:xfrm>
            <a:off x="3297174" y="192024"/>
            <a:ext cx="5597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sz="3600" b="1" dirty="0">
                <a:latin typeface="+mj-lt"/>
              </a:rPr>
              <a:t>არომატული კაფსულები</a:t>
            </a:r>
            <a:endParaRPr lang="en-US" sz="3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48114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69513C-50BC-B550-18EF-B395AA66C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629910" y="687661"/>
            <a:ext cx="8594174" cy="5975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D5625A-7164-E145-C3D6-7ECEF52EF821}"/>
              </a:ext>
            </a:extLst>
          </p:cNvPr>
          <p:cNvSpPr txBox="1"/>
          <p:nvPr/>
        </p:nvSpPr>
        <p:spPr>
          <a:xfrm>
            <a:off x="716280" y="4590288"/>
            <a:ext cx="4184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sz="2400" b="1" dirty="0"/>
              <a:t>კერამიკული გამათბობელი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39ACB-FB76-F6D8-BC51-20D6EFA69F06}"/>
              </a:ext>
            </a:extLst>
          </p:cNvPr>
          <p:cNvSpPr txBox="1"/>
          <p:nvPr/>
        </p:nvSpPr>
        <p:spPr>
          <a:xfrm>
            <a:off x="1360337" y="1517904"/>
            <a:ext cx="4059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a-GE" sz="2800" b="1" dirty="0"/>
              <a:t>ჰაერის ტუმბო</a:t>
            </a:r>
            <a:endParaRPr lang="en-US" sz="2800" b="1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49E8AD1-C8B3-B371-006D-3543311CA9F4}"/>
              </a:ext>
            </a:extLst>
          </p:cNvPr>
          <p:cNvSpPr/>
          <p:nvPr/>
        </p:nvSpPr>
        <p:spPr>
          <a:xfrm rot="600271">
            <a:off x="4195160" y="1986049"/>
            <a:ext cx="3601061" cy="461665"/>
          </a:xfrm>
          <a:prstGeom prst="rightArrow">
            <a:avLst>
              <a:gd name="adj1" fmla="val 60331"/>
              <a:gd name="adj2" fmla="val 5000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271E045-DC93-4EE2-707E-6B02CA8C3066}"/>
              </a:ext>
            </a:extLst>
          </p:cNvPr>
          <p:cNvSpPr/>
          <p:nvPr/>
        </p:nvSpPr>
        <p:spPr>
          <a:xfrm rot="604326">
            <a:off x="4884884" y="4768343"/>
            <a:ext cx="2108956" cy="461665"/>
          </a:xfrm>
          <a:prstGeom prst="rightArrow">
            <a:avLst>
              <a:gd name="adj1" fmla="val 60331"/>
              <a:gd name="adj2" fmla="val 5000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74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7CBBEE-12BF-342E-C0F5-AFC0C1BFB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9" y="1357512"/>
            <a:ext cx="9683495" cy="55004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4B2177-8A59-A9E9-F1F7-1F7E44C7CD09}"/>
              </a:ext>
            </a:extLst>
          </p:cNvPr>
          <p:cNvSpPr txBox="1"/>
          <p:nvPr/>
        </p:nvSpPr>
        <p:spPr>
          <a:xfrm>
            <a:off x="1979676" y="338328"/>
            <a:ext cx="7955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a-GE" sz="3200" b="1" dirty="0">
                <a:latin typeface="Sylfaen" panose="010A0502050306030303" pitchFamily="18" charset="0"/>
              </a:rPr>
              <a:t>პროტოტიპის პირველადი </a:t>
            </a:r>
            <a:r>
              <a:rPr lang="en-US" sz="3200" b="1" dirty="0">
                <a:latin typeface="Sylfaen" panose="010A0502050306030303" pitchFamily="18" charset="0"/>
              </a:rPr>
              <a:t>3D</a:t>
            </a:r>
            <a:r>
              <a:rPr lang="ka-GE" sz="3200" b="1" dirty="0">
                <a:latin typeface="Sylfaen" panose="010A0502050306030303" pitchFamily="18" charset="0"/>
              </a:rPr>
              <a:t> მოდელი</a:t>
            </a:r>
            <a:endParaRPr lang="en-US" sz="3200" b="1" dirty="0">
              <a:latin typeface="Sylfaen" panose="010A05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21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330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41915ac81_0_5"/>
          <p:cNvSpPr/>
          <p:nvPr/>
        </p:nvSpPr>
        <p:spPr>
          <a:xfrm>
            <a:off x="640080" y="457200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სამართავი სისტემა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g3f41915ac81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0" y="1358825"/>
            <a:ext cx="8301125" cy="54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330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როგორ მუშაობს სისტემა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C2E6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9C2E6"/>
                </a:solidFill>
                <a:latin typeface="Calibri"/>
                <a:ea typeface="Calibri"/>
                <a:cs typeface="Calibri"/>
                <a:sym typeface="Calibri"/>
              </a:rPr>
              <a:t>კომპიუტერიდან სურათის აქტივაციიდან სუნის მიწოდებამდე — ოთხსაფეხურიანი, მეხსიერების ციკლი წამებში.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40080" y="2194560"/>
            <a:ext cx="2343150" cy="3108960"/>
          </a:xfrm>
          <a:prstGeom prst="roundRect">
            <a:avLst>
              <a:gd name="adj" fmla="val 4683"/>
            </a:avLst>
          </a:prstGeom>
          <a:solidFill>
            <a:srgbClr val="2A1F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445895" y="2514600"/>
            <a:ext cx="731520" cy="731520"/>
          </a:xfrm>
          <a:prstGeom prst="ellipse">
            <a:avLst/>
          </a:prstGeom>
          <a:solidFill>
            <a:srgbClr val="4FD8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92;p4" descr="icons/wif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0487" y="267919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822960" y="3429000"/>
            <a:ext cx="19773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lang="en-US" sz="145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1. ბრძანება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68680" y="3931920"/>
            <a:ext cx="188595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8D2E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8D2EE"/>
                </a:solidFill>
                <a:latin typeface="Calibri"/>
                <a:ea typeface="Calibri"/>
                <a:cs typeface="Calibri"/>
                <a:sym typeface="Calibri"/>
              </a:rPr>
              <a:t>კომპიუტერიდან ვიდეო კონტენტის შესაბამისი სიგნალი ESP32-ს გადაეცემა Wi-Fi/სერიულად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4"/>
          <p:cNvCxnSpPr/>
          <p:nvPr/>
        </p:nvCxnSpPr>
        <p:spPr>
          <a:xfrm>
            <a:off x="3038094" y="3749040"/>
            <a:ext cx="393192" cy="0"/>
          </a:xfrm>
          <a:prstGeom prst="straightConnector1">
            <a:avLst/>
          </a:prstGeom>
          <a:noFill/>
          <a:ln w="25400" cap="flat" cmpd="sng">
            <a:solidFill>
              <a:srgbClr val="4FD8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4"/>
          <p:cNvSpPr/>
          <p:nvPr/>
        </p:nvSpPr>
        <p:spPr>
          <a:xfrm>
            <a:off x="3486150" y="2194560"/>
            <a:ext cx="2343150" cy="3108960"/>
          </a:xfrm>
          <a:prstGeom prst="roundRect">
            <a:avLst>
              <a:gd name="adj" fmla="val 4683"/>
            </a:avLst>
          </a:prstGeom>
          <a:solidFill>
            <a:srgbClr val="2A1F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291965" y="2514600"/>
            <a:ext cx="731520" cy="731520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" name="Google Shape;98;p4" descr="icons/chip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6557" y="267919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/>
          <p:nvPr/>
        </p:nvSpPr>
        <p:spPr>
          <a:xfrm>
            <a:off x="3669030" y="3429000"/>
            <a:ext cx="19773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lang="en-US" sz="145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2. არხის არჩევა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714750" y="3931920"/>
            <a:ext cx="188595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8D2E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8D2EE"/>
                </a:solidFill>
                <a:latin typeface="Calibri"/>
                <a:ea typeface="Calibri"/>
                <a:cs typeface="Calibri"/>
                <a:sym typeface="Calibri"/>
              </a:rPr>
              <a:t>ESP32 განსაზღვრავს სწორ სუნის არხს და რთავს შესაბამის დრაივერს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4"/>
          <p:cNvCxnSpPr/>
          <p:nvPr/>
        </p:nvCxnSpPr>
        <p:spPr>
          <a:xfrm>
            <a:off x="5884164" y="3749040"/>
            <a:ext cx="393192" cy="0"/>
          </a:xfrm>
          <a:prstGeom prst="straightConnector1">
            <a:avLst/>
          </a:prstGeom>
          <a:noFill/>
          <a:ln w="25400" cap="flat" cmpd="sng">
            <a:solidFill>
              <a:srgbClr val="4FD8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Google Shape;102;p4"/>
          <p:cNvSpPr/>
          <p:nvPr/>
        </p:nvSpPr>
        <p:spPr>
          <a:xfrm>
            <a:off x="6332220" y="2194560"/>
            <a:ext cx="2343150" cy="3108960"/>
          </a:xfrm>
          <a:prstGeom prst="roundRect">
            <a:avLst>
              <a:gd name="adj" fmla="val 4683"/>
            </a:avLst>
          </a:prstGeom>
          <a:solidFill>
            <a:srgbClr val="2A1F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7138035" y="2514600"/>
            <a:ext cx="731520" cy="731520"/>
          </a:xfrm>
          <a:prstGeom prst="ellipse">
            <a:avLst/>
          </a:prstGeom>
          <a:solidFill>
            <a:srgbClr val="4FD8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" name="Google Shape;104;p4" descr="icons/ther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02627" y="267919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6515100" y="3429000"/>
            <a:ext cx="19773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lang="en-US" sz="145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3. გათბობა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560820" y="3931920"/>
            <a:ext cx="188595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8D2E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8D2EE"/>
                </a:solidFill>
                <a:latin typeface="Calibri"/>
                <a:ea typeface="Calibri"/>
                <a:cs typeface="Calibri"/>
                <a:sym typeface="Calibri"/>
              </a:rPr>
              <a:t>კერამიკული გამათბობელი აცხელებს ეთეროვან ზეთს დიფუზიის დასაჩქარებლად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4"/>
          <p:cNvCxnSpPr/>
          <p:nvPr/>
        </p:nvCxnSpPr>
        <p:spPr>
          <a:xfrm>
            <a:off x="8730234" y="3749040"/>
            <a:ext cx="393192" cy="0"/>
          </a:xfrm>
          <a:prstGeom prst="straightConnector1">
            <a:avLst/>
          </a:prstGeom>
          <a:noFill/>
          <a:ln w="25400" cap="flat" cmpd="sng">
            <a:solidFill>
              <a:srgbClr val="4FD8E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p4"/>
          <p:cNvSpPr/>
          <p:nvPr/>
        </p:nvSpPr>
        <p:spPr>
          <a:xfrm>
            <a:off x="9178290" y="2194560"/>
            <a:ext cx="2343150" cy="3108960"/>
          </a:xfrm>
          <a:prstGeom prst="roundRect">
            <a:avLst>
              <a:gd name="adj" fmla="val 4683"/>
            </a:avLst>
          </a:prstGeom>
          <a:solidFill>
            <a:srgbClr val="2A1F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9984105" y="2514600"/>
            <a:ext cx="731520" cy="731520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4" descr="icons/win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48697" y="267919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9361170" y="3429000"/>
            <a:ext cx="19773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lang="en-US" sz="145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4. მიწოდება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9406890" y="3931920"/>
            <a:ext cx="188595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8D2E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8D2EE"/>
                </a:solidFill>
                <a:latin typeface="Calibri"/>
                <a:ea typeface="Calibri"/>
                <a:cs typeface="Calibri"/>
                <a:sym typeface="Calibri"/>
              </a:rPr>
              <a:t>ჰაერის ტუმბო სუნს მომხმარებლისკენ მიმართავს, ~5 წამში, ჰოლოგრამასთან სინქრონულად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ვერიფიკაცია და ტესტირება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სამი ძირითადი ტესტი დაადასტურა დიზაინის სპეციფიკაციებთან შესაბამისობა.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40080" y="169164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3F1F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3D2C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3" name="Google Shape;173;p9" descr="icons/ther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4" y="211226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/>
          <p:nvPr/>
        </p:nvSpPr>
        <p:spPr>
          <a:xfrm>
            <a:off x="914400" y="274320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A45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7A45"/>
                </a:solidFill>
                <a:latin typeface="Calibri"/>
                <a:ea typeface="Calibri"/>
                <a:cs typeface="Calibri"/>
                <a:sym typeface="Calibri"/>
              </a:rPr>
              <a:t>ტესტი N1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914400" y="301752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1450"/>
              <a:buFont typeface="Cambria"/>
              <a:buNone/>
            </a:pPr>
            <a:r>
              <a:rPr lang="en-US" sz="145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ტემპერატურის კონტროლი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914400" y="3611880"/>
            <a:ext cx="28346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თერმული კამერით შემოწმდა გამათბობლის სტაბილურობა 50°C-ზე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9"/>
          <p:cNvCxnSpPr/>
          <p:nvPr/>
        </p:nvCxnSpPr>
        <p:spPr>
          <a:xfrm>
            <a:off x="914400" y="5120640"/>
            <a:ext cx="2834640" cy="0"/>
          </a:xfrm>
          <a:prstGeom prst="straightConnector1">
            <a:avLst/>
          </a:prstGeom>
          <a:noFill/>
          <a:ln w="12700" cap="flat" cmpd="sng">
            <a:solidFill>
              <a:srgbClr val="D9D2E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8" name="Google Shape;178;p9" descr="icons/chec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5303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/>
          <p:nvPr/>
        </p:nvSpPr>
        <p:spPr>
          <a:xfrm>
            <a:off x="1298448" y="5285232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A5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E8A5F"/>
                </a:solidFill>
                <a:latin typeface="Calibri"/>
                <a:ea typeface="Calibri"/>
                <a:cs typeface="Calibri"/>
                <a:sym typeface="Calibri"/>
              </a:rPr>
              <a:t>სპეციფიკაციის შესაბამისი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389120" y="169164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3F1F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4663440" y="1965960"/>
            <a:ext cx="640080" cy="640080"/>
          </a:xfrm>
          <a:prstGeom prst="ellipse">
            <a:avLst/>
          </a:prstGeom>
          <a:solidFill>
            <a:srgbClr val="3D2C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9" descr="icons/win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09744" y="211226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/>
          <p:nvPr/>
        </p:nvSpPr>
        <p:spPr>
          <a:xfrm>
            <a:off x="4663440" y="274320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A45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7A45"/>
                </a:solidFill>
                <a:latin typeface="Calibri"/>
                <a:ea typeface="Calibri"/>
                <a:cs typeface="Calibri"/>
                <a:sym typeface="Calibri"/>
              </a:rPr>
              <a:t>ტესტი N2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663440" y="301752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1450"/>
              <a:buFont typeface="Cambria"/>
              <a:buNone/>
            </a:pPr>
            <a:r>
              <a:rPr lang="en-US" sz="145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არხების ჰერმეტულობა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663440" y="3611880"/>
            <a:ext cx="28346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ორ ოთახად გამოცდილი დიფუზია — სუნი მხოლოდ სამიზნე არხში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9"/>
          <p:cNvCxnSpPr/>
          <p:nvPr/>
        </p:nvCxnSpPr>
        <p:spPr>
          <a:xfrm>
            <a:off x="4663440" y="5120640"/>
            <a:ext cx="2834640" cy="0"/>
          </a:xfrm>
          <a:prstGeom prst="straightConnector1">
            <a:avLst/>
          </a:prstGeom>
          <a:noFill/>
          <a:ln w="12700" cap="flat" cmpd="sng">
            <a:solidFill>
              <a:srgbClr val="D9D2E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7" name="Google Shape;187;p9" descr="icons/chec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3440" y="5303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/>
          <p:nvPr/>
        </p:nvSpPr>
        <p:spPr>
          <a:xfrm>
            <a:off x="5047488" y="5285232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A5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E8A5F"/>
                </a:solidFill>
                <a:latin typeface="Calibri"/>
                <a:ea typeface="Calibri"/>
                <a:cs typeface="Calibri"/>
                <a:sym typeface="Calibri"/>
              </a:rPr>
              <a:t>სუნი მხოლოდ სამიზნე ოთახში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8138160" y="169164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3F1F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8412480" y="1965960"/>
            <a:ext cx="640080" cy="640080"/>
          </a:xfrm>
          <a:prstGeom prst="ellipse">
            <a:avLst/>
          </a:prstGeom>
          <a:solidFill>
            <a:srgbClr val="3D2C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1" name="Google Shape;191;p9" descr="icons/ey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58784" y="211226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8412480" y="274320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A45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7A45"/>
                </a:solidFill>
                <a:latin typeface="Calibri"/>
                <a:ea typeface="Calibri"/>
                <a:cs typeface="Calibri"/>
                <a:sym typeface="Calibri"/>
              </a:rPr>
              <a:t>ტესტი N3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8412480" y="301752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1450"/>
              <a:buFont typeface="Cambria"/>
              <a:buNone/>
            </a:pPr>
            <a:r>
              <a:rPr lang="en-US" sz="145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ჰოლოგრამის სიცხადე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8412480" y="3611880"/>
            <a:ext cx="28346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ორგმინის კუთხეები მორგებული ეკრანის ზომაზე ლაზერული საჭრელით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9"/>
          <p:cNvCxnSpPr/>
          <p:nvPr/>
        </p:nvCxnSpPr>
        <p:spPr>
          <a:xfrm>
            <a:off x="8412480" y="5120640"/>
            <a:ext cx="2834640" cy="0"/>
          </a:xfrm>
          <a:prstGeom prst="straightConnector1">
            <a:avLst/>
          </a:prstGeom>
          <a:noFill/>
          <a:ln w="12700" cap="flat" cmpd="sng">
            <a:solidFill>
              <a:srgbClr val="D9D2E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96" name="Google Shape;196;p9" descr="icons/chec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2480" y="5303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8796528" y="5285232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8A5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E8A5F"/>
                </a:solidFill>
                <a:latin typeface="Calibri"/>
                <a:ea typeface="Calibri"/>
                <a:cs typeface="Calibri"/>
                <a:sym typeface="Calibri"/>
              </a:rPr>
              <a:t>კონტენტი სრულად და მკაფიოდ ჩანს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1942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231942"/>
                </a:solidFill>
                <a:latin typeface="Cambria"/>
                <a:ea typeface="Cambria"/>
                <a:cs typeface="Cambria"/>
                <a:sym typeface="Cambria"/>
              </a:rPr>
              <a:t>დასკვნები და მომავალი განვითარება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40080" y="1234440"/>
            <a:ext cx="5257800" cy="5120640"/>
          </a:xfrm>
          <a:prstGeom prst="roundRect">
            <a:avLst>
              <a:gd name="adj" fmla="val 2143"/>
            </a:avLst>
          </a:prstGeom>
          <a:solidFill>
            <a:srgbClr val="F3F1FA"/>
          </a:solidFill>
          <a:ln>
            <a:noFill/>
          </a:ln>
          <a:effectLst>
            <a:outerShdw blurRad="101600" dist="38100" dir="54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914400" y="14630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C6B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3D2C6B"/>
                </a:solidFill>
                <a:latin typeface="Cambria"/>
                <a:ea typeface="Cambria"/>
                <a:cs typeface="Cambria"/>
                <a:sym typeface="Cambria"/>
              </a:rPr>
              <a:t>მიღწეული შედეგი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914400" y="19659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ჰოლოგრაფიული კონტენტი მინიმალურ დროში ააქტიურებს შესაბამის სუნის არხს — ვიზუალური და ყნოსვითი აღქმა ერთდროულად ტრიგერდება.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914400" y="288036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A45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FF7A45"/>
                </a:solidFill>
                <a:latin typeface="Calibri"/>
                <a:ea typeface="Calibri"/>
                <a:cs typeface="Calibri"/>
                <a:sym typeface="Calibri"/>
              </a:rPr>
              <a:t>შეზღუდვა: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914400" y="3200400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ეთეროვანი ზეთის წვეთოვანის ავტომატიზაცია ჯერ არ არის რეალიზებული — ბოთლები კარტრიჯებივით ხელით იცვლება.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914400" y="402336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2C6B"/>
              </a:buClr>
              <a:buSzPts val="1250"/>
              <a:buFont typeface="Calibri"/>
              <a:buNone/>
            </a:pPr>
            <a:r>
              <a:rPr lang="en-US" sz="1250" b="1">
                <a:solidFill>
                  <a:srgbClr val="3D2C6B"/>
                </a:solidFill>
                <a:latin typeface="Calibri"/>
                <a:ea typeface="Calibri"/>
                <a:cs typeface="Calibri"/>
                <a:sym typeface="Calibri"/>
              </a:rPr>
              <a:t>სამომავლო გაუმჯობესება: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914400" y="434340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69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E6690"/>
                </a:solidFill>
                <a:latin typeface="Calibri"/>
                <a:ea typeface="Calibri"/>
                <a:cs typeface="Calibri"/>
                <a:sym typeface="Calibri"/>
              </a:rPr>
              <a:t>ეკრანის პროგრამული მოდიფიცირება პირამიდის ზომებზე ნატიური ჰოლოგრაფიული რეჟიმისთვის — ამცირებს თვალის დაღლილობასაც.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914400" y="525780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172200" y="1234440"/>
            <a:ext cx="5349240" cy="5120640"/>
          </a:xfrm>
          <a:prstGeom prst="roundRect">
            <a:avLst>
              <a:gd name="adj" fmla="val 2143"/>
            </a:avLst>
          </a:prstGeom>
          <a:solidFill>
            <a:srgbClr val="3D2C6B"/>
          </a:solidFill>
          <a:ln>
            <a:noFill/>
          </a:ln>
          <a:effectLst>
            <a:outerShdw blurRad="101600" dist="38100" dir="54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6446520" y="14630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კომერციალიზაციის პოტენციალი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446520" y="2011680"/>
            <a:ext cx="502920" cy="502920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5" name="Google Shape;215;p10" descr="icons/bo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4536" y="213969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/>
          <p:nvPr/>
        </p:nvSpPr>
        <p:spPr>
          <a:xfrm>
            <a:off x="7132320" y="19659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lang="en-US" sz="135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მუზეუმები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7132320" y="233172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DFF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4DFF5"/>
                </a:solidFill>
                <a:latin typeface="Calibri"/>
                <a:ea typeface="Calibri"/>
                <a:cs typeface="Calibri"/>
                <a:sym typeface="Calibri"/>
              </a:rPr>
              <a:t>წარსულის უფრო რეალური და ყურადღების მიმპყრობი გადმოცემა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446520" y="3383280"/>
            <a:ext cx="502920" cy="502920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9" name="Google Shape;219;p10" descr="icons/flas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74536" y="351129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/>
          <p:nvPr/>
        </p:nvSpPr>
        <p:spPr>
          <a:xfrm>
            <a:off x="7132320" y="33375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lang="en-US" sz="135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პარფიუმერიის მარკეტინგი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7132320" y="370332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DFF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4DFF5"/>
                </a:solidFill>
                <a:latin typeface="Calibri"/>
                <a:ea typeface="Calibri"/>
                <a:cs typeface="Calibri"/>
                <a:sym typeface="Calibri"/>
              </a:rPr>
              <a:t>პროდუქტის რეკლამა ჰოლოგრამაზე + რეალურ დროში სუნის ტესტირება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446520" y="4754880"/>
            <a:ext cx="502920" cy="502920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3" name="Google Shape;223;p10" descr="icons/bulb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74536" y="488289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7132320" y="47091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lang="en-US" sz="135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განათლება და გამოფენები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7132320" y="507492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DFF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E4DFF5"/>
                </a:solidFill>
                <a:latin typeface="Calibri"/>
                <a:ea typeface="Calibri"/>
                <a:cs typeface="Calibri"/>
                <a:sym typeface="Calibri"/>
              </a:rPr>
              <a:t>ინტერაქტიული, მრავალსენსორული სასწავლო გამოცდილება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 txBox="1"/>
          <p:nvPr/>
        </p:nvSpPr>
        <p:spPr>
          <a:xfrm>
            <a:off x="3313524" y="3136612"/>
            <a:ext cx="556495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მადლობა ყურადღებისთვის!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Microsoft Office PowerPoint</Application>
  <PresentationFormat>Widescreen</PresentationFormat>
  <Paragraphs>110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Sylfaen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დავით მიქავა, ცოტნე მაჭარაშვილი, ვაჟა კეკენაძე</dc:creator>
  <cp:lastModifiedBy>davit mikava</cp:lastModifiedBy>
  <cp:revision>1</cp:revision>
  <dcterms:created xsi:type="dcterms:W3CDTF">2026-07-07T10:37:35Z</dcterms:created>
  <dcterms:modified xsi:type="dcterms:W3CDTF">2026-07-13T09:15:56Z</dcterms:modified>
</cp:coreProperties>
</file>