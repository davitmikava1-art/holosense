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1" r:id="rId5"/>
    <p:sldId id="262" r:id="rId6"/>
    <p:sldId id="263" r:id="rId7"/>
    <p:sldId id="269" r:id="rId8"/>
    <p:sldId id="270" r:id="rId9"/>
    <p:sldId id="271" r:id="rId10"/>
    <p:sldId id="268" r:id="rId11"/>
    <p:sldId id="259" r:id="rId12"/>
    <p:sldId id="260" r:id="rId13"/>
    <p:sldId id="272" r:id="rId14"/>
    <p:sldId id="265" r:id="rId15"/>
    <p:sldId id="266" r:id="rId16"/>
    <p:sldId id="267" r:id="rId17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9" roundtripDataSignature="AMtx7mjl6XZ1Eua4KdkZEcphv8ckUZXFg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6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F170F17-02A5-40CE-A733-9199EC178EF2}">
  <a:tblStyle styleId="{7F170F17-02A5-40CE-A733-9199EC178EF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3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8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" name="Google Shape;23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" name="Google Shape;124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f41915ac8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8" name="Google Shape;78;g3f41915ac81_0_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g3f41915ac81_0_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" name="Google Shape;85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6" name="Google Shape;166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0" name="Google Shape;200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1:notes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330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7955280" y="-2011680"/>
            <a:ext cx="6400800" cy="6400800"/>
          </a:xfrm>
          <a:prstGeom prst="ellipse">
            <a:avLst/>
          </a:prstGeom>
          <a:solidFill>
            <a:srgbClr val="4FD8E0">
              <a:alpha val="1215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1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FF7A45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"/>
          <p:cNvSpPr/>
          <p:nvPr/>
        </p:nvSpPr>
        <p:spPr>
          <a:xfrm>
            <a:off x="822960" y="155448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FD8E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4FD8E0"/>
                </a:solidFill>
                <a:latin typeface="Calibri"/>
                <a:ea typeface="Calibri"/>
                <a:cs typeface="Calibri"/>
                <a:sym typeface="Calibri"/>
              </a:rPr>
              <a:t>CE490B  ·  დამამთავრებელი კურსის პროექტი B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777240" y="1965960"/>
            <a:ext cx="91440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mbria"/>
              <a:buNone/>
            </a:pPr>
            <a:r>
              <a:rPr lang="en-US" sz="64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HoloSense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822960" y="3246120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8D2EE"/>
              </a:buClr>
              <a:buSzPts val="1800"/>
              <a:buFont typeface="Calibri"/>
              <a:buNone/>
            </a:pPr>
            <a:r>
              <a:rPr lang="en-US" sz="1800" b="0" i="1" u="none" strike="noStrike" cap="none">
                <a:solidFill>
                  <a:srgbClr val="D8D2EE"/>
                </a:solidFill>
                <a:latin typeface="Calibri"/>
                <a:ea typeface="Calibri"/>
                <a:cs typeface="Calibri"/>
                <a:sym typeface="Calibri"/>
              </a:rPr>
              <a:t>ჰოლოგრაფიული ვიზუალიზაცია + სინქრონიზებული სურნელის მიწოდება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17;p1"/>
          <p:cNvCxnSpPr/>
          <p:nvPr/>
        </p:nvCxnSpPr>
        <p:spPr>
          <a:xfrm>
            <a:off x="822960" y="3977640"/>
            <a:ext cx="2926080" cy="0"/>
          </a:xfrm>
          <a:prstGeom prst="straightConnector1">
            <a:avLst/>
          </a:prstGeom>
          <a:noFill/>
          <a:ln w="25400" cap="flat" cmpd="sng">
            <a:solidFill>
              <a:srgbClr val="FF7A4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1"/>
          <p:cNvSpPr/>
          <p:nvPr/>
        </p:nvSpPr>
        <p:spPr>
          <a:xfrm>
            <a:off x="822960" y="42062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FD8E0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4FD8E0"/>
                </a:solidFill>
                <a:latin typeface="Calibri"/>
                <a:ea typeface="Calibri"/>
                <a:cs typeface="Calibri"/>
                <a:sym typeface="Calibri"/>
              </a:rPr>
              <a:t>გუნდის წევრები: </a:t>
            </a: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ცოტნე მაჭარაშვილი  ·  ვაჟა კეკენაძე  ·  დავით მიქავა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22960" y="461772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FD8E0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4FD8E0"/>
                </a:solidFill>
                <a:latin typeface="Calibri"/>
                <a:ea typeface="Calibri"/>
                <a:cs typeface="Calibri"/>
                <a:sym typeface="Calibri"/>
              </a:rPr>
              <a:t>ხელმძღვანელები: </a:t>
            </a: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პროფ. დავით ჩხაიძე, პროფ. გიორგი მოდებაძე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9CC7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A69CC7"/>
                </a:solidFill>
                <a:latin typeface="Calibri"/>
                <a:ea typeface="Calibri"/>
                <a:cs typeface="Calibri"/>
                <a:sym typeface="Calibri"/>
              </a:rPr>
              <a:t>ილიას სახელმწიფო უნივერსიტეტი  ·  ტექნოლოგიების სკოლა  ·  </a:t>
            </a:r>
            <a:r>
              <a:rPr lang="en-US" sz="1200">
                <a:solidFill>
                  <a:srgbClr val="A69CC7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r>
              <a:rPr lang="en-US" sz="1200" b="0" i="0" u="none" strike="noStrike" cap="none">
                <a:solidFill>
                  <a:srgbClr val="A69CC7"/>
                </a:solidFill>
                <a:latin typeface="Calibri"/>
                <a:ea typeface="Calibri"/>
                <a:cs typeface="Calibri"/>
                <a:sym typeface="Calibri"/>
              </a:rPr>
              <a:t>/0</a:t>
            </a:r>
            <a:r>
              <a:rPr lang="en-US" sz="1200">
                <a:solidFill>
                  <a:srgbClr val="A69CC7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r>
              <a:rPr lang="en-US" sz="1200" b="0" i="0" u="none" strike="noStrike" cap="none">
                <a:solidFill>
                  <a:srgbClr val="A69CC7"/>
                </a:solidFill>
                <a:latin typeface="Calibri"/>
                <a:ea typeface="Calibri"/>
                <a:cs typeface="Calibri"/>
                <a:sym typeface="Calibri"/>
              </a:rPr>
              <a:t>/2026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რატომ მხოლოდ ხედვა?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640080" y="1097280"/>
            <a:ext cx="66751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450"/>
              <a:buFont typeface="Calibri"/>
              <a:buNone/>
            </a:pPr>
            <a:r>
              <a:rPr lang="en-US" sz="14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ჰოლოგრამები საოცრად წარმოაჩენენ კონტენტს, მაგრამ ადამიანის აღქმა ერთ არხზე არ შემოიფარგლება — ყნოსვა პირდაპირ უკავშირდება მეხსიერებასა და ემოციას.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640080" y="237744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3D2C6B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" name="Google Shape;29;p2" descr="icons/ey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0120" y="269748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2"/>
          <p:cNvSpPr/>
          <p:nvPr/>
        </p:nvSpPr>
        <p:spPr>
          <a:xfrm>
            <a:off x="960120" y="342900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lang="en-US" sz="16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ვიზუალური არხი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960120" y="3840480"/>
            <a:ext cx="27432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4DFF5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კომერციულად ხელმისაწვდომი ჰოლოგრამები (Pepper's Ghost) ფოკუსირებულია მხოლოდ სამგანზომილებიანი გამოსახულების ხარისხზე.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4160520" y="237744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FF7A45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" name="Google Shape;33;p2" descr="icons/wind_a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80560" y="269748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2"/>
          <p:cNvSpPr/>
          <p:nvPr/>
        </p:nvSpPr>
        <p:spPr>
          <a:xfrm>
            <a:off x="4480560" y="342900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lang="en-US" sz="16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ყნოსვითი არხი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480560" y="3840480"/>
            <a:ext cx="27432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0E8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FFF0E8"/>
                </a:solidFill>
                <a:latin typeface="Calibri"/>
                <a:ea typeface="Calibri"/>
                <a:cs typeface="Calibri"/>
                <a:sym typeface="Calibri"/>
              </a:rPr>
              <a:t>ყნოსვითი სტიმულები იწვევს გაცილებით ძლიერ და ხანგრძლივ მეხსიერებით რეაქციებს, ვიდრე ვიზუალური ან აუდიო სტიმული.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7680960" y="2377440"/>
            <a:ext cx="3840480" cy="3566160"/>
          </a:xfrm>
          <a:prstGeom prst="roundRect">
            <a:avLst>
              <a:gd name="adj" fmla="val 3077"/>
            </a:avLst>
          </a:prstGeom>
          <a:solidFill>
            <a:srgbClr val="F3F1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800100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600"/>
              <a:buFont typeface="Cambria"/>
              <a:buNone/>
            </a:pPr>
            <a:r>
              <a:rPr lang="en-US" sz="16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HoloSense-ის იდეა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8001000" y="3154680"/>
            <a:ext cx="3291840" cy="2651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ხიდი ორ ყველაზე ძლიერ გრძნობას შორის —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rgbClr val="6E6690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ჰოლოგრაფიული კონტენტი რეალურ დროში ააქტიურებს შესაბამის სუნის არხს, მინიმალური დაყოვნებით.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საინჟინრო მიზნები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640080" y="109728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პროექტის ამოცანა: ფუნქციური პროტოტიპის დიზაინი, აგება და შეფასება სინქრონიზებული ვიზუალურ-ყნოსვითი გამოცდილებისთვის.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640080" y="1965960"/>
            <a:ext cx="3413760" cy="1828800"/>
          </a:xfrm>
          <a:prstGeom prst="roundRect">
            <a:avLst>
              <a:gd name="adj" fmla="val 5000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3"/>
          <p:cNvSpPr/>
          <p:nvPr/>
        </p:nvSpPr>
        <p:spPr>
          <a:xfrm>
            <a:off x="868680" y="2194560"/>
            <a:ext cx="502920" cy="50292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8" name="Google Shape;48;p3" descr="icons/diagram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7552" y="231343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/>
          <p:nvPr/>
        </p:nvSpPr>
        <p:spPr>
          <a:xfrm>
            <a:off x="1508760" y="214884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lang="en-US" sz="13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საიმედო ჰოლოგრაფიული ვიზუალიზაცია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868680" y="283464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მდგრადი, მკაფიო ოთხმხრივი ჰოლოგრაფიული ასახვის პლატფორმა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4373880" y="1965960"/>
            <a:ext cx="3413760" cy="1828800"/>
          </a:xfrm>
          <a:prstGeom prst="roundRect">
            <a:avLst>
              <a:gd name="adj" fmla="val 5000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3"/>
          <p:cNvSpPr/>
          <p:nvPr/>
        </p:nvSpPr>
        <p:spPr>
          <a:xfrm>
            <a:off x="4602480" y="219456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" name="Google Shape;53;p3" descr="icons/win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21352" y="231343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"/>
          <p:cNvSpPr/>
          <p:nvPr/>
        </p:nvSpPr>
        <p:spPr>
          <a:xfrm>
            <a:off x="5242560" y="214884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lang="en-US" sz="13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ელექტრონულად კონტროლირებადი სუნის მიწოდება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602480" y="283464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5 დამოუკიდებელი არხი ცალკეული აქტივაციით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8107680" y="1965960"/>
            <a:ext cx="3413760" cy="1828800"/>
          </a:xfrm>
          <a:prstGeom prst="roundRect">
            <a:avLst>
              <a:gd name="adj" fmla="val 5000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"/>
          <p:cNvSpPr/>
          <p:nvPr/>
        </p:nvSpPr>
        <p:spPr>
          <a:xfrm>
            <a:off x="8336280" y="2194560"/>
            <a:ext cx="502920" cy="50292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8" name="Google Shape;58;p3" descr="icons/bolt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55152" y="231343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3"/>
          <p:cNvSpPr/>
          <p:nvPr/>
        </p:nvSpPr>
        <p:spPr>
          <a:xfrm>
            <a:off x="8976360" y="214884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lang="en-US" sz="13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რეალურ დროში სინქრონიზაცია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8336280" y="283464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ვიზუალურ მოვლენასა და სუნის აქტივაციას შორის მინიმალური დაყოვნება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640080" y="4114800"/>
            <a:ext cx="3413760" cy="1828800"/>
          </a:xfrm>
          <a:prstGeom prst="roundRect">
            <a:avLst>
              <a:gd name="adj" fmla="val 5000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3" name="Google Shape;63;p3" descr="icons/shiel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87552" y="446227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3"/>
          <p:cNvSpPr/>
          <p:nvPr/>
        </p:nvSpPr>
        <p:spPr>
          <a:xfrm>
            <a:off x="1508760" y="429768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lang="en-US" sz="13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არხებს შორის შერევის აცილება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868680" y="498348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იზოლირებული ჰაერის ნაკადები და გაწმენდის ციკლი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4373880" y="4114800"/>
            <a:ext cx="3413760" cy="1828800"/>
          </a:xfrm>
          <a:prstGeom prst="roundRect">
            <a:avLst>
              <a:gd name="adj" fmla="val 5000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>
            <a:off x="4602480" y="4343400"/>
            <a:ext cx="502920" cy="50292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8" name="Google Shape;68;p3" descr="icons/cogs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21352" y="446227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3"/>
          <p:cNvSpPr/>
          <p:nvPr/>
        </p:nvSpPr>
        <p:spPr>
          <a:xfrm>
            <a:off x="5242560" y="429768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lang="en-US" sz="13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მოდულური არქიტექტურა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4602480" y="498348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მარტივი მოვლა, შეცვლა და მომავალში გაფართოება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8107680" y="4114800"/>
            <a:ext cx="3413760" cy="1828800"/>
          </a:xfrm>
          <a:prstGeom prst="roundRect">
            <a:avLst>
              <a:gd name="adj" fmla="val 5000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8336280" y="434340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3" name="Google Shape;73;p3" descr="icons/check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55152" y="446227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3"/>
          <p:cNvSpPr/>
          <p:nvPr/>
        </p:nvSpPr>
        <p:spPr>
          <a:xfrm>
            <a:off x="8976360" y="429768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lang="en-US" sz="13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უსაფრთხო ექსპლუატაცია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8336280" y="498348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ნორმალური გამოყენების პირობებში სრული უსაფრთხოება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000"/>
              <a:buFont typeface="Cambria"/>
              <a:buNone/>
            </a:pPr>
            <a:r>
              <a:rPr lang="en-US" sz="30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სისტემის ბლოკ-სქემა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640080" y="8686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ორი პარალელური ქვესისტემა — ჰოლოგრაფიული ვიზუალიზაცია და სუნის მართვის მოდული — ერთი კომუნიკაციის ბირთვის გარშემო.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1575313" y="1463040"/>
            <a:ext cx="9041070" cy="5394960"/>
          </a:xfrm>
          <a:prstGeom prst="roundRect">
            <a:avLst>
              <a:gd name="adj" fmla="val 1356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1" name="Google Shape;121;p5" descr="img-000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2473" y="1600200"/>
            <a:ext cx="8766750" cy="512064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464897-77E3-9849-ACAD-062A3A87270F}"/>
              </a:ext>
            </a:extLst>
          </p:cNvPr>
          <p:cNvSpPr txBox="1"/>
          <p:nvPr/>
        </p:nvSpPr>
        <p:spPr>
          <a:xfrm>
            <a:off x="4910328" y="4345183"/>
            <a:ext cx="676656" cy="261610"/>
          </a:xfrm>
          <a:prstGeom prst="rect">
            <a:avLst/>
          </a:prstGeom>
          <a:solidFill>
            <a:srgbClr val="FFF6B5"/>
          </a:solidFill>
        </p:spPr>
        <p:txBody>
          <a:bodyPr wrap="square" rtlCol="0">
            <a:spAutoFit/>
          </a:bodyPr>
          <a:lstStyle/>
          <a:p>
            <a:r>
              <a:rPr lang="en-US" sz="1100" dirty="0"/>
              <a:t>ESP32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"/>
          <p:cNvSpPr/>
          <p:nvPr/>
        </p:nvSpPr>
        <p:spPr>
          <a:xfrm>
            <a:off x="640080" y="457200"/>
            <a:ext cx="91440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000"/>
              <a:buFont typeface="Cambria"/>
              <a:buNone/>
            </a:pPr>
            <a:r>
              <a:rPr lang="en-US" sz="30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კომპონენტები 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8" name="Google Shape;128;p8"/>
          <p:cNvGraphicFramePr/>
          <p:nvPr/>
        </p:nvGraphicFramePr>
        <p:xfrm>
          <a:off x="640080" y="1188720"/>
          <a:ext cx="5691775" cy="5212125"/>
        </p:xfrm>
        <a:graphic>
          <a:graphicData uri="http://schemas.openxmlformats.org/drawingml/2006/table">
            <a:tbl>
              <a:tblPr>
                <a:noFill/>
                <a:tableStyleId>{7F170F17-02A5-40CE-A733-9199EC178EF2}</a:tableStyleId>
              </a:tblPr>
              <a:tblGrid>
                <a:gridCol w="426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2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მოწყობილობა / დეტალი</a:t>
                      </a:r>
                      <a:endParaRPr sz="12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D2C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რაოდ.</a:t>
                      </a:r>
                      <a:endParaRPr sz="12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D2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ESP32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ჰაერის ტუმბო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1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კერამიკული გამათბობლები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ძაბვის დამგდები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1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ძრავის დრაივერი BTS7960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მოსფეტი IRFZ44N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1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არომატული ეთერზეთები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3მმ გამჭვირვალე ორგმინა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1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DF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29" name="Google Shape;129;p8"/>
          <p:cNvSpPr/>
          <p:nvPr/>
        </p:nvSpPr>
        <p:spPr>
          <a:xfrm>
            <a:off x="7818120" y="1188720"/>
            <a:ext cx="3703320" cy="5212080"/>
          </a:xfrm>
          <a:prstGeom prst="roundRect">
            <a:avLst>
              <a:gd name="adj" fmla="val 2963"/>
            </a:avLst>
          </a:prstGeom>
          <a:solidFill>
            <a:srgbClr val="1B133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8"/>
          <p:cNvSpPr/>
          <p:nvPr/>
        </p:nvSpPr>
        <p:spPr>
          <a:xfrm>
            <a:off x="8092440" y="14173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FD8E0"/>
              </a:buClr>
              <a:buSzPts val="1500"/>
              <a:buFont typeface="Cambria"/>
              <a:buNone/>
            </a:pPr>
            <a:r>
              <a:rPr lang="en-US" sz="1500" b="1">
                <a:solidFill>
                  <a:srgbClr val="4FD8E0"/>
                </a:solidFill>
                <a:latin typeface="Cambria"/>
                <a:ea typeface="Cambria"/>
                <a:cs typeface="Cambria"/>
                <a:sym typeface="Cambria"/>
              </a:rPr>
              <a:t>შერჩევის ლოგიკა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8092440" y="1920240"/>
            <a:ext cx="3246120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E4DFF5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ESP32 — Wi-Fi/Bluetooth მხარდაჭერით, დაბალი სიმძლავრით და ცნობილი საიმედოობით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1200"/>
              </a:spcBef>
              <a:spcAft>
                <a:spcPts val="0"/>
              </a:spcAft>
              <a:buClr>
                <a:srgbClr val="E4DFF5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კერამიკული გამათბობლები აჩქარებენ ეთეროვანი ზეთის დიფუზიას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1200"/>
              </a:spcBef>
              <a:spcAft>
                <a:spcPts val="0"/>
              </a:spcAft>
              <a:buClr>
                <a:srgbClr val="E4DFF5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ჰაერის ტუმბოები უზრუნველყოფენ სუნის მყისიერ მიწოდებას მომხმარებლისკენ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1200"/>
              </a:spcBef>
              <a:spcAft>
                <a:spcPts val="0"/>
              </a:spcAft>
              <a:buClr>
                <a:srgbClr val="E4DFF5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გამჭვირვალე ორგმინის პირამიდა ოთხმხრივ ჰოლოგრაფიულ ასახვას ქმნის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"/>
          <p:cNvSpPr/>
          <p:nvPr/>
        </p:nvSpPr>
        <p:spPr>
          <a:xfrm>
            <a:off x="3284220" y="81863"/>
            <a:ext cx="56235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000"/>
              <a:buFont typeface="Cambria"/>
              <a:buNone/>
            </a:pPr>
            <a:r>
              <a:rPr lang="ka-GE" sz="3000" b="1" dirty="0">
                <a:solidFill>
                  <a:srgbClr val="231942"/>
                </a:solidFill>
                <a:latin typeface="Calibri"/>
                <a:ea typeface="Cambria"/>
                <a:cs typeface="Calibri"/>
                <a:sym typeface="Cambria"/>
              </a:rPr>
              <a:t>პროექტის ელექტრული წრედი</a:t>
            </a:r>
            <a:endParaRPr sz="3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0" y="813816"/>
            <a:ext cx="12192000" cy="6044184"/>
          </a:xfrm>
          <a:prstGeom prst="roundRect">
            <a:avLst>
              <a:gd name="adj" fmla="val 2627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9" name="Google Shape;139;p6" descr="img-00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901" y="1180443"/>
            <a:ext cx="11654117" cy="5448768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"/>
          <p:cNvSpPr/>
          <p:nvPr/>
        </p:nvSpPr>
        <p:spPr>
          <a:xfrm>
            <a:off x="7040880" y="3903345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150"/>
              <a:buFont typeface="Calibri"/>
              <a:buNone/>
            </a:pPr>
            <a:endParaRPr sz="11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4BD287-4545-7440-9896-1A3EC481E4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652" y="1088062"/>
            <a:ext cx="6800088" cy="55779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AE1757D-A427-8E8B-C529-6DED910834FF}"/>
              </a:ext>
            </a:extLst>
          </p:cNvPr>
          <p:cNvSpPr txBox="1"/>
          <p:nvPr/>
        </p:nvSpPr>
        <p:spPr>
          <a:xfrm>
            <a:off x="3297174" y="192024"/>
            <a:ext cx="559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a-GE" sz="3600" b="1" dirty="0">
                <a:latin typeface="+mj-lt"/>
              </a:rPr>
              <a:t>არომატული კაფსულები</a:t>
            </a:r>
            <a:endParaRPr lang="en-US" sz="36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114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469513C-50BC-B550-18EF-B395AA66C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4629910" y="687661"/>
            <a:ext cx="8594174" cy="59752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3D5625A-7164-E145-C3D6-7ECEF52EF821}"/>
              </a:ext>
            </a:extLst>
          </p:cNvPr>
          <p:cNvSpPr txBox="1"/>
          <p:nvPr/>
        </p:nvSpPr>
        <p:spPr>
          <a:xfrm>
            <a:off x="716280" y="4590288"/>
            <a:ext cx="4184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a-GE" sz="2400" b="1" dirty="0"/>
              <a:t>კერამიკული გამათბობელი</a:t>
            </a:r>
            <a:endParaRPr lang="en-US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139ACB-FB76-F6D8-BC51-20D6EFA69F06}"/>
              </a:ext>
            </a:extLst>
          </p:cNvPr>
          <p:cNvSpPr txBox="1"/>
          <p:nvPr/>
        </p:nvSpPr>
        <p:spPr>
          <a:xfrm>
            <a:off x="1360337" y="1517904"/>
            <a:ext cx="4059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a-GE" sz="2800" b="1" dirty="0"/>
              <a:t>ჰაერის ტუმბო</a:t>
            </a:r>
            <a:endParaRPr lang="en-US" sz="2800" b="1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E49E8AD1-C8B3-B371-006D-3543311CA9F4}"/>
              </a:ext>
            </a:extLst>
          </p:cNvPr>
          <p:cNvSpPr/>
          <p:nvPr/>
        </p:nvSpPr>
        <p:spPr>
          <a:xfrm rot="600271">
            <a:off x="4195160" y="1986049"/>
            <a:ext cx="3601061" cy="461665"/>
          </a:xfrm>
          <a:prstGeom prst="rightArrow">
            <a:avLst>
              <a:gd name="adj1" fmla="val 60331"/>
              <a:gd name="adj2" fmla="val 50000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271E045-DC93-4EE2-707E-6B02CA8C3066}"/>
              </a:ext>
            </a:extLst>
          </p:cNvPr>
          <p:cNvSpPr/>
          <p:nvPr/>
        </p:nvSpPr>
        <p:spPr>
          <a:xfrm rot="604326">
            <a:off x="4884884" y="4768343"/>
            <a:ext cx="2108956" cy="461665"/>
          </a:xfrm>
          <a:prstGeom prst="rightArrow">
            <a:avLst>
              <a:gd name="adj1" fmla="val 60331"/>
              <a:gd name="adj2" fmla="val 50000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74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C88F94-FCC2-E1B2-5ED9-7DBAA532A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984" y="4051462"/>
            <a:ext cx="4124704" cy="26221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7DDF37-AA9D-7178-6632-A28525507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176" y="400812"/>
            <a:ext cx="5253701" cy="3430524"/>
          </a:xfrm>
          <a:prstGeom prst="rect">
            <a:avLst/>
          </a:prstGeom>
        </p:spPr>
      </p:pic>
      <p:pic>
        <p:nvPicPr>
          <p:cNvPr id="1026" name="Picture 2" descr="აღწერილობა არაა ხელმისაწვდომი.">
            <a:extLst>
              <a:ext uri="{FF2B5EF4-FFF2-40B4-BE49-F238E27FC236}">
                <a16:creationId xmlns:a16="http://schemas.microsoft.com/office/drawing/2014/main" id="{35271EEF-86AB-4C19-372F-A021E48CD3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81" b="17679"/>
          <a:stretch/>
        </p:blipFill>
        <p:spPr bwMode="auto">
          <a:xfrm>
            <a:off x="926592" y="1984248"/>
            <a:ext cx="3810000" cy="3694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F04E51-9988-1604-8057-4DBF6E610555}"/>
              </a:ext>
            </a:extLst>
          </p:cNvPr>
          <p:cNvSpPr txBox="1"/>
          <p:nvPr/>
        </p:nvSpPr>
        <p:spPr>
          <a:xfrm>
            <a:off x="577123" y="400812"/>
            <a:ext cx="52537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a-GE" sz="3600" b="1" dirty="0"/>
              <a:t>ძრავის კოდი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49324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F7CBBEE-12BF-342E-C0F5-AFC0C1BFB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9" y="1357512"/>
            <a:ext cx="9683495" cy="55004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4B2177-8A59-A9E9-F1F7-1F7E44C7CD09}"/>
              </a:ext>
            </a:extLst>
          </p:cNvPr>
          <p:cNvSpPr txBox="1"/>
          <p:nvPr/>
        </p:nvSpPr>
        <p:spPr>
          <a:xfrm>
            <a:off x="1979676" y="338328"/>
            <a:ext cx="79552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a-GE" sz="3200" b="1" dirty="0">
                <a:latin typeface="Sylfaen" panose="010A0502050306030303" pitchFamily="18" charset="0"/>
              </a:rPr>
              <a:t>პროტოტიპის პირველადი </a:t>
            </a:r>
            <a:r>
              <a:rPr lang="en-US" sz="3200" b="1" dirty="0">
                <a:latin typeface="Sylfaen" panose="010A0502050306030303" pitchFamily="18" charset="0"/>
              </a:rPr>
              <a:t>3D</a:t>
            </a:r>
            <a:r>
              <a:rPr lang="ka-GE" sz="3200" b="1" dirty="0">
                <a:latin typeface="Sylfaen" panose="010A0502050306030303" pitchFamily="18" charset="0"/>
              </a:rPr>
              <a:t> მოდელი</a:t>
            </a:r>
            <a:endParaRPr lang="en-US" sz="3200" b="1" dirty="0">
              <a:latin typeface="Sylfaen" panose="010A050205030603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821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330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41915ac81_0_5"/>
          <p:cNvSpPr/>
          <p:nvPr/>
        </p:nvSpPr>
        <p:spPr>
          <a:xfrm>
            <a:off x="640080" y="457200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სამართავი სისტემა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g3f41915ac81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8800" y="1358825"/>
            <a:ext cx="8301125" cy="549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330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როგორ მუშაობს სისტემა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640080" y="10972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9C2E6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C9C2E6"/>
                </a:solidFill>
                <a:latin typeface="Calibri"/>
                <a:ea typeface="Calibri"/>
                <a:cs typeface="Calibri"/>
                <a:sym typeface="Calibri"/>
              </a:rPr>
              <a:t>კომპიუტერიდან სურათის აქტივაციიდან სუნის მიწოდებამდე — ოთხსაფეხურიანი, მეხსიერების ციკლი წამებში.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640080" y="2194560"/>
            <a:ext cx="2343150" cy="3108960"/>
          </a:xfrm>
          <a:prstGeom prst="roundRect">
            <a:avLst>
              <a:gd name="adj" fmla="val 4683"/>
            </a:avLst>
          </a:prstGeom>
          <a:solidFill>
            <a:srgbClr val="2A1F4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>
            <a:off x="1445895" y="2514600"/>
            <a:ext cx="731520" cy="731520"/>
          </a:xfrm>
          <a:prstGeom prst="ellipse">
            <a:avLst/>
          </a:prstGeom>
          <a:solidFill>
            <a:srgbClr val="4FD8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2" name="Google Shape;92;p4" descr="icons/wifi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10487" y="2679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4"/>
          <p:cNvSpPr/>
          <p:nvPr/>
        </p:nvSpPr>
        <p:spPr>
          <a:xfrm>
            <a:off x="822960" y="3429000"/>
            <a:ext cx="197739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mbria"/>
              <a:buNone/>
            </a:pPr>
            <a:r>
              <a:rPr lang="en-US" sz="145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1. ბრძანება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868680" y="3931920"/>
            <a:ext cx="188595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D2EE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D2EE"/>
                </a:solidFill>
                <a:latin typeface="Calibri"/>
                <a:ea typeface="Calibri"/>
                <a:cs typeface="Calibri"/>
                <a:sym typeface="Calibri"/>
              </a:rPr>
              <a:t>კომპიუტერიდან ვიდეო კონტენტის შესაბამისი სიგნალი ESP32-ს გადაეცემა Wi-Fi/სერიულად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4"/>
          <p:cNvCxnSpPr/>
          <p:nvPr/>
        </p:nvCxnSpPr>
        <p:spPr>
          <a:xfrm>
            <a:off x="3038094" y="3749040"/>
            <a:ext cx="393192" cy="0"/>
          </a:xfrm>
          <a:prstGeom prst="straightConnector1">
            <a:avLst/>
          </a:prstGeom>
          <a:noFill/>
          <a:ln w="25400" cap="flat" cmpd="sng">
            <a:solidFill>
              <a:srgbClr val="4FD8E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4"/>
          <p:cNvSpPr/>
          <p:nvPr/>
        </p:nvSpPr>
        <p:spPr>
          <a:xfrm>
            <a:off x="3486150" y="2194560"/>
            <a:ext cx="2343150" cy="3108960"/>
          </a:xfrm>
          <a:prstGeom prst="roundRect">
            <a:avLst>
              <a:gd name="adj" fmla="val 4683"/>
            </a:avLst>
          </a:prstGeom>
          <a:solidFill>
            <a:srgbClr val="2A1F4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4"/>
          <p:cNvSpPr/>
          <p:nvPr/>
        </p:nvSpPr>
        <p:spPr>
          <a:xfrm>
            <a:off x="4291965" y="2514600"/>
            <a:ext cx="731520" cy="7315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8" name="Google Shape;98;p4" descr="icons/chip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56557" y="2679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4"/>
          <p:cNvSpPr/>
          <p:nvPr/>
        </p:nvSpPr>
        <p:spPr>
          <a:xfrm>
            <a:off x="3669030" y="3429000"/>
            <a:ext cx="197739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mbria"/>
              <a:buNone/>
            </a:pPr>
            <a:r>
              <a:rPr lang="en-US" sz="145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2. არხის არჩევა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3714750" y="3931920"/>
            <a:ext cx="188595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D2EE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D2EE"/>
                </a:solidFill>
                <a:latin typeface="Calibri"/>
                <a:ea typeface="Calibri"/>
                <a:cs typeface="Calibri"/>
                <a:sym typeface="Calibri"/>
              </a:rPr>
              <a:t>ESP32 განსაზღვრავს სწორ სუნის არხს და რთავს შესაბამის დრაივერს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4"/>
          <p:cNvCxnSpPr/>
          <p:nvPr/>
        </p:nvCxnSpPr>
        <p:spPr>
          <a:xfrm>
            <a:off x="5884164" y="3749040"/>
            <a:ext cx="393192" cy="0"/>
          </a:xfrm>
          <a:prstGeom prst="straightConnector1">
            <a:avLst/>
          </a:prstGeom>
          <a:noFill/>
          <a:ln w="25400" cap="flat" cmpd="sng">
            <a:solidFill>
              <a:srgbClr val="4FD8E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2" name="Google Shape;102;p4"/>
          <p:cNvSpPr/>
          <p:nvPr/>
        </p:nvSpPr>
        <p:spPr>
          <a:xfrm>
            <a:off x="6332220" y="2194560"/>
            <a:ext cx="2343150" cy="3108960"/>
          </a:xfrm>
          <a:prstGeom prst="roundRect">
            <a:avLst>
              <a:gd name="adj" fmla="val 4683"/>
            </a:avLst>
          </a:prstGeom>
          <a:solidFill>
            <a:srgbClr val="2A1F4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7138035" y="2514600"/>
            <a:ext cx="731520" cy="731520"/>
          </a:xfrm>
          <a:prstGeom prst="ellipse">
            <a:avLst/>
          </a:prstGeom>
          <a:solidFill>
            <a:srgbClr val="4FD8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4" name="Google Shape;104;p4" descr="icons/therm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02627" y="2679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4"/>
          <p:cNvSpPr/>
          <p:nvPr/>
        </p:nvSpPr>
        <p:spPr>
          <a:xfrm>
            <a:off x="6515100" y="3429000"/>
            <a:ext cx="197739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mbria"/>
              <a:buNone/>
            </a:pPr>
            <a:r>
              <a:rPr lang="en-US" sz="145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3. გათბობა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6560820" y="3931920"/>
            <a:ext cx="188595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D2EE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D2EE"/>
                </a:solidFill>
                <a:latin typeface="Calibri"/>
                <a:ea typeface="Calibri"/>
                <a:cs typeface="Calibri"/>
                <a:sym typeface="Calibri"/>
              </a:rPr>
              <a:t>კერამიკული გამათბობელი აცხელებს ეთეროვან ზეთს დიფუზიის დასაჩქარებლად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7" name="Google Shape;107;p4"/>
          <p:cNvCxnSpPr/>
          <p:nvPr/>
        </p:nvCxnSpPr>
        <p:spPr>
          <a:xfrm>
            <a:off x="8730234" y="3749040"/>
            <a:ext cx="393192" cy="0"/>
          </a:xfrm>
          <a:prstGeom prst="straightConnector1">
            <a:avLst/>
          </a:prstGeom>
          <a:noFill/>
          <a:ln w="25400" cap="flat" cmpd="sng">
            <a:solidFill>
              <a:srgbClr val="4FD8E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8" name="Google Shape;108;p4"/>
          <p:cNvSpPr/>
          <p:nvPr/>
        </p:nvSpPr>
        <p:spPr>
          <a:xfrm>
            <a:off x="9178290" y="2194560"/>
            <a:ext cx="2343150" cy="3108960"/>
          </a:xfrm>
          <a:prstGeom prst="roundRect">
            <a:avLst>
              <a:gd name="adj" fmla="val 4683"/>
            </a:avLst>
          </a:prstGeom>
          <a:solidFill>
            <a:srgbClr val="2A1F4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9984105" y="2514600"/>
            <a:ext cx="731520" cy="7315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0" name="Google Shape;110;p4" descr="icons/win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148697" y="2679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4"/>
          <p:cNvSpPr/>
          <p:nvPr/>
        </p:nvSpPr>
        <p:spPr>
          <a:xfrm>
            <a:off x="9361170" y="3429000"/>
            <a:ext cx="197739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mbria"/>
              <a:buNone/>
            </a:pPr>
            <a:r>
              <a:rPr lang="en-US" sz="145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4. მიწოდება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9406890" y="3931920"/>
            <a:ext cx="188595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D2EE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D2EE"/>
                </a:solidFill>
                <a:latin typeface="Calibri"/>
                <a:ea typeface="Calibri"/>
                <a:cs typeface="Calibri"/>
                <a:sym typeface="Calibri"/>
              </a:rPr>
              <a:t>ჰაერის ტუმბო სუნს მომხმარებლისკენ მიმართავს, ~5 წამში, ჰოლოგრამასთან სინქრონულად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B7CEE1-DD64-181F-99F2-2A6CA45A1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341" y="1609725"/>
            <a:ext cx="4638675" cy="1676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A61EFC-B8C8-0A31-2C5E-BB5F87A77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884" y="1600200"/>
            <a:ext cx="4114800" cy="16859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3799E1-4827-1B0E-E48A-BA84331F9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341" y="3882771"/>
            <a:ext cx="9480343" cy="25784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75E243-8B0A-8813-9817-38F40C45AD04}"/>
              </a:ext>
            </a:extLst>
          </p:cNvPr>
          <p:cNvSpPr txBox="1"/>
          <p:nvPr/>
        </p:nvSpPr>
        <p:spPr>
          <a:xfrm>
            <a:off x="2615184" y="305550"/>
            <a:ext cx="63642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a-GE" sz="4000" b="1" dirty="0"/>
              <a:t>გამშვები სისტემა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595950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"/>
          <p:cNvSpPr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000"/>
              <a:buFont typeface="Cambria"/>
              <a:buNone/>
            </a:pPr>
            <a:r>
              <a:rPr lang="en-US" sz="30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ვერიფიკაცია და ტესტირება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640080" y="100584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სამი ძირითადი ტესტი დაადასტურა დიზაინის სპეციფიკაციებთან შესაბამისობა.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640080" y="1691640"/>
            <a:ext cx="3383280" cy="4480560"/>
          </a:xfrm>
          <a:prstGeom prst="roundRect">
            <a:avLst>
              <a:gd name="adj" fmla="val 3243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9"/>
          <p:cNvSpPr/>
          <p:nvPr/>
        </p:nvSpPr>
        <p:spPr>
          <a:xfrm>
            <a:off x="914400" y="1965960"/>
            <a:ext cx="640080" cy="64008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3" name="Google Shape;173;p9" descr="icons/therm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0704" y="211226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9"/>
          <p:cNvSpPr/>
          <p:nvPr/>
        </p:nvSpPr>
        <p:spPr>
          <a:xfrm>
            <a:off x="914400" y="274320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7A45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FF7A45"/>
                </a:solidFill>
                <a:latin typeface="Calibri"/>
                <a:ea typeface="Calibri"/>
                <a:cs typeface="Calibri"/>
                <a:sym typeface="Calibri"/>
              </a:rPr>
              <a:t>ტესტი N1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/>
          <p:nvPr/>
        </p:nvSpPr>
        <p:spPr>
          <a:xfrm>
            <a:off x="914400" y="3017520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450"/>
              <a:buFont typeface="Cambria"/>
              <a:buNone/>
            </a:pPr>
            <a:r>
              <a:rPr lang="en-US" sz="145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ტემპერატურის კონტროლი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914400" y="3611880"/>
            <a:ext cx="2834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თერმული კამერით შემოწმდა გამათბობლის სტაბილურობა 50°C-ზე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7" name="Google Shape;177;p9"/>
          <p:cNvCxnSpPr/>
          <p:nvPr/>
        </p:nvCxnSpPr>
        <p:spPr>
          <a:xfrm>
            <a:off x="914400" y="5120640"/>
            <a:ext cx="2834640" cy="0"/>
          </a:xfrm>
          <a:prstGeom prst="straightConnector1">
            <a:avLst/>
          </a:prstGeom>
          <a:noFill/>
          <a:ln w="12700" cap="flat" cmpd="sng">
            <a:solidFill>
              <a:srgbClr val="D9D2E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78" name="Google Shape;178;p9" descr="icons/che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4400" y="530352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9"/>
          <p:cNvSpPr/>
          <p:nvPr/>
        </p:nvSpPr>
        <p:spPr>
          <a:xfrm>
            <a:off x="1298448" y="52852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8A5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1E8A5F"/>
                </a:solidFill>
                <a:latin typeface="Calibri"/>
                <a:ea typeface="Calibri"/>
                <a:cs typeface="Calibri"/>
                <a:sym typeface="Calibri"/>
              </a:rPr>
              <a:t>სპეციფიკაციის შესაბამისი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4389120" y="1691640"/>
            <a:ext cx="3383280" cy="4480560"/>
          </a:xfrm>
          <a:prstGeom prst="roundRect">
            <a:avLst>
              <a:gd name="adj" fmla="val 3243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9"/>
          <p:cNvSpPr/>
          <p:nvPr/>
        </p:nvSpPr>
        <p:spPr>
          <a:xfrm>
            <a:off x="4663440" y="1965960"/>
            <a:ext cx="640080" cy="64008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2" name="Google Shape;182;p9" descr="icons/win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809744" y="211226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9"/>
          <p:cNvSpPr/>
          <p:nvPr/>
        </p:nvSpPr>
        <p:spPr>
          <a:xfrm>
            <a:off x="4663440" y="274320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7A45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FF7A45"/>
                </a:solidFill>
                <a:latin typeface="Calibri"/>
                <a:ea typeface="Calibri"/>
                <a:cs typeface="Calibri"/>
                <a:sym typeface="Calibri"/>
              </a:rPr>
              <a:t>ტესტი N2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4663440" y="3017520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450"/>
              <a:buFont typeface="Cambria"/>
              <a:buNone/>
            </a:pPr>
            <a:r>
              <a:rPr lang="en-US" sz="145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არხების ჰერმეტულობა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4663440" y="3611880"/>
            <a:ext cx="2834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ორ ოთახად გამოცდილი დიფუზია — სუნი მხოლოდ სამიზნე არხში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6" name="Google Shape;186;p9"/>
          <p:cNvCxnSpPr/>
          <p:nvPr/>
        </p:nvCxnSpPr>
        <p:spPr>
          <a:xfrm>
            <a:off x="4663440" y="5120640"/>
            <a:ext cx="2834640" cy="0"/>
          </a:xfrm>
          <a:prstGeom prst="straightConnector1">
            <a:avLst/>
          </a:prstGeom>
          <a:noFill/>
          <a:ln w="12700" cap="flat" cmpd="sng">
            <a:solidFill>
              <a:srgbClr val="D9D2E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87" name="Google Shape;187;p9" descr="icons/che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63440" y="530352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9"/>
          <p:cNvSpPr/>
          <p:nvPr/>
        </p:nvSpPr>
        <p:spPr>
          <a:xfrm>
            <a:off x="5047488" y="52852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8A5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1E8A5F"/>
                </a:solidFill>
                <a:latin typeface="Calibri"/>
                <a:ea typeface="Calibri"/>
                <a:cs typeface="Calibri"/>
                <a:sym typeface="Calibri"/>
              </a:rPr>
              <a:t>სუნი მხოლოდ სამიზნე ოთახში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8138160" y="1691640"/>
            <a:ext cx="3383280" cy="4480560"/>
          </a:xfrm>
          <a:prstGeom prst="roundRect">
            <a:avLst>
              <a:gd name="adj" fmla="val 3243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"/>
          <p:cNvSpPr/>
          <p:nvPr/>
        </p:nvSpPr>
        <p:spPr>
          <a:xfrm>
            <a:off x="8412480" y="1965960"/>
            <a:ext cx="640080" cy="64008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1" name="Google Shape;191;p9" descr="icons/ey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558784" y="211226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9"/>
          <p:cNvSpPr/>
          <p:nvPr/>
        </p:nvSpPr>
        <p:spPr>
          <a:xfrm>
            <a:off x="8412480" y="274320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7A45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FF7A45"/>
                </a:solidFill>
                <a:latin typeface="Calibri"/>
                <a:ea typeface="Calibri"/>
                <a:cs typeface="Calibri"/>
                <a:sym typeface="Calibri"/>
              </a:rPr>
              <a:t>ტესტი N3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8412480" y="3017520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450"/>
              <a:buFont typeface="Cambria"/>
              <a:buNone/>
            </a:pPr>
            <a:r>
              <a:rPr lang="en-US" sz="145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ჰოლოგრამის სიცხადე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8412480" y="3611880"/>
            <a:ext cx="2834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ორგმინის კუთხეები მორგებული ეკრანის ზომაზე ლაზერული საჭრელით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5" name="Google Shape;195;p9"/>
          <p:cNvCxnSpPr/>
          <p:nvPr/>
        </p:nvCxnSpPr>
        <p:spPr>
          <a:xfrm>
            <a:off x="8412480" y="5120640"/>
            <a:ext cx="2834640" cy="0"/>
          </a:xfrm>
          <a:prstGeom prst="straightConnector1">
            <a:avLst/>
          </a:prstGeom>
          <a:noFill/>
          <a:ln w="12700" cap="flat" cmpd="sng">
            <a:solidFill>
              <a:srgbClr val="D9D2E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96" name="Google Shape;196;p9" descr="icons/che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2480" y="530352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9"/>
          <p:cNvSpPr/>
          <p:nvPr/>
        </p:nvSpPr>
        <p:spPr>
          <a:xfrm>
            <a:off x="8796528" y="52852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8A5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1E8A5F"/>
                </a:solidFill>
                <a:latin typeface="Calibri"/>
                <a:ea typeface="Calibri"/>
                <a:cs typeface="Calibri"/>
                <a:sym typeface="Calibri"/>
              </a:rPr>
              <a:t>კონტენტი სრულად და მკაფიოდ ჩანს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000"/>
              <a:buFont typeface="Cambria"/>
              <a:buNone/>
            </a:pPr>
            <a:r>
              <a:rPr lang="en-US" sz="3000" b="1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დასკვნები და მომავალი განვითარება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640080" y="1234440"/>
            <a:ext cx="5257800" cy="5120640"/>
          </a:xfrm>
          <a:prstGeom prst="roundRect">
            <a:avLst>
              <a:gd name="adj" fmla="val 2143"/>
            </a:avLst>
          </a:prstGeom>
          <a:solidFill>
            <a:srgbClr val="F3F1FA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0"/>
          <p:cNvSpPr/>
          <p:nvPr/>
        </p:nvSpPr>
        <p:spPr>
          <a:xfrm>
            <a:off x="914400" y="146304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D2C6B"/>
              </a:buClr>
              <a:buSzPts val="1600"/>
              <a:buFont typeface="Cambria"/>
              <a:buNone/>
            </a:pPr>
            <a:r>
              <a:rPr lang="en-US" sz="1600" b="1">
                <a:solidFill>
                  <a:srgbClr val="3D2C6B"/>
                </a:solidFill>
                <a:latin typeface="Cambria"/>
                <a:ea typeface="Cambria"/>
                <a:cs typeface="Cambria"/>
                <a:sym typeface="Cambria"/>
              </a:rPr>
              <a:t>მიღწეული შედეგი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914400" y="1965960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ჰოლოგრაფიული კონტენტი მინიმალურ დროში ააქტიურებს შესაბამის სუნის არხს — ვიზუალური და ყნოსვითი აღქმა ერთდროულად ტრიგერდება.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914400" y="288036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7A45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FF7A45"/>
                </a:solidFill>
                <a:latin typeface="Calibri"/>
                <a:ea typeface="Calibri"/>
                <a:cs typeface="Calibri"/>
                <a:sym typeface="Calibri"/>
              </a:rPr>
              <a:t>შეზღუდვა: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914400" y="3200400"/>
            <a:ext cx="4754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ეთეროვანი ზეთის წვეთოვანის ავტომატიზაცია ჯერ არ არის რეალიზებული — ბოთლები კარტრიჯებივით ხელით იცვლება.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914400" y="402336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D2C6B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3D2C6B"/>
                </a:solidFill>
                <a:latin typeface="Calibri"/>
                <a:ea typeface="Calibri"/>
                <a:cs typeface="Calibri"/>
                <a:sym typeface="Calibri"/>
              </a:rPr>
              <a:t>სამომავლო გაუმჯობესება: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914400" y="4343400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ეკრანის პროგრამული მოდიფიცირება პირამიდის ზომებზე ნატიური ჰოლოგრაფიული რეჟიმისთვის — ამცირებს თვალის დაღლილობასაც.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/>
          <p:nvPr/>
        </p:nvSpPr>
        <p:spPr>
          <a:xfrm>
            <a:off x="914400" y="5257800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6172200" y="1234440"/>
            <a:ext cx="5349240" cy="5120640"/>
          </a:xfrm>
          <a:prstGeom prst="roundRect">
            <a:avLst>
              <a:gd name="adj" fmla="val 2143"/>
            </a:avLst>
          </a:prstGeom>
          <a:solidFill>
            <a:srgbClr val="3D2C6B"/>
          </a:solidFill>
          <a:ln>
            <a:noFill/>
          </a:ln>
          <a:effectLst>
            <a:outerShdw blurRad="101600" dist="38100" dir="54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0"/>
          <p:cNvSpPr/>
          <p:nvPr/>
        </p:nvSpPr>
        <p:spPr>
          <a:xfrm>
            <a:off x="6446520" y="146304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lang="en-US" sz="16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კომერციალიზაციის პოტენციალი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6446520" y="201168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5" name="Google Shape;215;p10" descr="icons/box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74536" y="213969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0"/>
          <p:cNvSpPr/>
          <p:nvPr/>
        </p:nvSpPr>
        <p:spPr>
          <a:xfrm>
            <a:off x="7132320" y="196596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mbria"/>
              <a:buNone/>
            </a:pPr>
            <a:r>
              <a:rPr lang="en-US" sz="135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მუზეუმები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7132320" y="2331720"/>
            <a:ext cx="4206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4DFF5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წარსულის უფრო რეალური და ყურადღების მიმპყრობი გადმოცემა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6446520" y="338328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9" name="Google Shape;219;p10" descr="icons/flas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74536" y="351129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0"/>
          <p:cNvSpPr/>
          <p:nvPr/>
        </p:nvSpPr>
        <p:spPr>
          <a:xfrm>
            <a:off x="7132320" y="333756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mbria"/>
              <a:buNone/>
            </a:pPr>
            <a:r>
              <a:rPr lang="en-US" sz="135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პარფიუმერიის მარკეტინგი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7132320" y="3703320"/>
            <a:ext cx="4206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4DFF5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პროდუქტის რეკლამა ჰოლოგრამაზე + რეალურ დროში სუნის ტესტირება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6446520" y="475488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3" name="Google Shape;223;p10" descr="icons/bulb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74536" y="488289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/>
          <p:nvPr/>
        </p:nvSpPr>
        <p:spPr>
          <a:xfrm>
            <a:off x="7132320" y="470916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mbria"/>
              <a:buNone/>
            </a:pPr>
            <a:r>
              <a:rPr lang="en-US" sz="135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განათლება და გამოფენები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7132320" y="5074920"/>
            <a:ext cx="4206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4DFF5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ინტერაქტიული, მრავალსენსორული სასწავლო გამოცდილება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1"/>
          <p:cNvSpPr txBox="1"/>
          <p:nvPr/>
        </p:nvSpPr>
        <p:spPr>
          <a:xfrm>
            <a:off x="3313524" y="3136612"/>
            <a:ext cx="556495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მადლობა ყურადღებისთვის!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515</Words>
  <Application>Microsoft Office PowerPoint</Application>
  <PresentationFormat>Widescreen</PresentationFormat>
  <Paragraphs>113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Sylfaen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დავით მიქავა, ცოტნე მაჭარაშვილი, ვაჟა კეკენაძე</dc:creator>
  <cp:lastModifiedBy>davit mikava</cp:lastModifiedBy>
  <cp:revision>2</cp:revision>
  <dcterms:created xsi:type="dcterms:W3CDTF">2026-07-07T10:37:35Z</dcterms:created>
  <dcterms:modified xsi:type="dcterms:W3CDTF">2026-07-13T11:16:09Z</dcterms:modified>
</cp:coreProperties>
</file>