
<file path=[Content_Types].xml><?xml version="1.0" encoding="utf-8"?>
<Types xmlns="http://schemas.openxmlformats.org/package/2006/content-types">
  <Default ContentType="application/vnd.openxmlformats-officedocument.spreadsheetml.sheet" Extension="xlsx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1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jl6XZ1Eua4KdkZEcphv8ckUZXFg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94F683B-4BD0-4C51-84D4-B91EBC7F9A1E}">
  <a:tblStyle styleId="{494F683B-4BD0-4C51-84D4-B91EBC7F9A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charts/_rels/chart1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სიმძლავრე (W)</c:v>
                </c:pt>
              </c:strCache>
            </c:strRef>
          </c:tx>
          <c:spPr>
            <a:solidFill>
              <a:srgbClr val="4FD8E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3194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ერთი აქტიური არხი</c:v>
                </c:pt>
                <c:pt idx="1">
                  <c:v>ყველა კომპონენტი ერთდროულად</c:v>
                </c:pt>
                <c:pt idx="2">
                  <c:v>კვების ბლოკის ლიმიტი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7.5</c:v>
                </c:pt>
                <c:pt idx="1">
                  <c:v>20</c:v>
                </c:pt>
                <c:pt idx="2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14C-4679-B0AE-9CC34E1FE80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6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DF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6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" name="Google Shape;23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" name="Google Shape;41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f41915ac81_0_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8" name="Google Shape;78;g3f41915ac81_0_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g3f41915ac81_0_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" name="Google Shape;85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" name="Google Shape;115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4" name="Google Shape;124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" name="Google Shape;134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6" name="Google Shape;14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6" name="Google Shape;166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0" name="Google Shape;200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1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1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image" Target="../media/image9.png"/><Relationship Id="rId6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image" Target="../media/image1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1330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7955280" y="-2011680"/>
            <a:ext cx="6400800" cy="6400800"/>
          </a:xfrm>
          <a:prstGeom prst="ellipse">
            <a:avLst/>
          </a:prstGeom>
          <a:solidFill>
            <a:srgbClr val="4FD8E0">
              <a:alpha val="1215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1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FF7A45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"/>
          <p:cNvSpPr/>
          <p:nvPr/>
        </p:nvSpPr>
        <p:spPr>
          <a:xfrm>
            <a:off x="822960" y="155448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D8E0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D8E0"/>
                </a:solidFill>
                <a:latin typeface="Calibri"/>
                <a:ea typeface="Calibri"/>
                <a:cs typeface="Calibri"/>
                <a:sym typeface="Calibri"/>
              </a:rPr>
              <a:t>CE490B  ·  დამამთავრებელი კურსის პროექტი 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777240" y="1965960"/>
            <a:ext cx="9144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Cambria"/>
              <a:buNone/>
            </a:pPr>
            <a:r>
              <a:rPr b="1" i="0" lang="en-US" sz="6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HoloSense</a:t>
            </a:r>
            <a:endParaRPr b="0" i="0" sz="6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822960" y="3246120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D2EE"/>
              </a:buClr>
              <a:buSzPts val="1800"/>
              <a:buFont typeface="Calibri"/>
              <a:buNone/>
            </a:pPr>
            <a:r>
              <a:rPr b="0" i="1" lang="en-US" sz="1800" u="none" cap="none" strike="noStrike">
                <a:solidFill>
                  <a:srgbClr val="D8D2EE"/>
                </a:solidFill>
                <a:latin typeface="Calibri"/>
                <a:ea typeface="Calibri"/>
                <a:cs typeface="Calibri"/>
                <a:sym typeface="Calibri"/>
              </a:rPr>
              <a:t>ჰოლოგრაფიული ვიზუალიზაცია + სინქრონიზებული სურნელის მიწოდება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Google Shape;17;p1"/>
          <p:cNvCxnSpPr/>
          <p:nvPr/>
        </p:nvCxnSpPr>
        <p:spPr>
          <a:xfrm>
            <a:off x="822960" y="3977640"/>
            <a:ext cx="2926080" cy="0"/>
          </a:xfrm>
          <a:prstGeom prst="straightConnector1">
            <a:avLst/>
          </a:prstGeom>
          <a:noFill/>
          <a:ln cap="flat" cmpd="sng" w="25400">
            <a:solidFill>
              <a:srgbClr val="FF7A4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" name="Google Shape;18;p1"/>
          <p:cNvSpPr/>
          <p:nvPr/>
        </p:nvSpPr>
        <p:spPr>
          <a:xfrm>
            <a:off x="822960" y="420624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D8E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4FD8E0"/>
                </a:solidFill>
                <a:latin typeface="Calibri"/>
                <a:ea typeface="Calibri"/>
                <a:cs typeface="Calibri"/>
                <a:sym typeface="Calibri"/>
              </a:rPr>
              <a:t>გუნდის წევრები: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ცოტნე მაჭარაშვილი  ·  ვაჟა კეკენაძე  ·  დავით მიქავა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822960" y="461772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D8E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4FD8E0"/>
                </a:solidFill>
                <a:latin typeface="Calibri"/>
                <a:ea typeface="Calibri"/>
                <a:cs typeface="Calibri"/>
                <a:sym typeface="Calibri"/>
              </a:rPr>
              <a:t>ხელმძღვანელები: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პროფ. დავით ჩხაიძე, პროფ. გიორგი მოდებაძე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69CC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A69CC7"/>
                </a:solidFill>
                <a:latin typeface="Calibri"/>
                <a:ea typeface="Calibri"/>
                <a:cs typeface="Calibri"/>
                <a:sym typeface="Calibri"/>
              </a:rPr>
              <a:t>ილიას სახელმწიფო უნივერსიტეტი  ·  ტექნოლოგიების სკოლა  ·  </a:t>
            </a:r>
            <a:r>
              <a:rPr lang="en-US" sz="1200">
                <a:solidFill>
                  <a:srgbClr val="A69CC7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r>
              <a:rPr b="0" i="0" lang="en-US" sz="1200" u="none" cap="none" strike="noStrike">
                <a:solidFill>
                  <a:srgbClr val="A69CC7"/>
                </a:solidFill>
                <a:latin typeface="Calibri"/>
                <a:ea typeface="Calibri"/>
                <a:cs typeface="Calibri"/>
                <a:sym typeface="Calibri"/>
              </a:rPr>
              <a:t>/0</a:t>
            </a:r>
            <a:r>
              <a:rPr lang="en-US" sz="1200">
                <a:solidFill>
                  <a:srgbClr val="A69CC7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r>
              <a:rPr b="0" i="0" lang="en-US" sz="1200" u="none" cap="none" strike="noStrike">
                <a:solidFill>
                  <a:srgbClr val="A69CC7"/>
                </a:solidFill>
                <a:latin typeface="Calibri"/>
                <a:ea typeface="Calibri"/>
                <a:cs typeface="Calibri"/>
                <a:sym typeface="Calibri"/>
              </a:rPr>
              <a:t>/2026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რატომ მხოლოდ ხედვა?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2"/>
          <p:cNvSpPr/>
          <p:nvPr/>
        </p:nvSpPr>
        <p:spPr>
          <a:xfrm>
            <a:off x="640080" y="1097280"/>
            <a:ext cx="66751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450"/>
              <a:buFont typeface="Calibri"/>
              <a:buNone/>
            </a:pPr>
            <a:r>
              <a:rPr lang="en-US" sz="14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ჰოლოგრამები საოცრად წარმოაჩენენ კონტენტს, მაგრამ ადამიანის აღქმა ერთ არხზე არ შემოიფარგლება — ყნოსვა პირდაპირ უკავშირდება მეხსიერებასა და ემოციას.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640080" y="2377440"/>
            <a:ext cx="3291840" cy="3566160"/>
          </a:xfrm>
          <a:prstGeom prst="roundRect">
            <a:avLst>
              <a:gd fmla="val 3333" name="adj"/>
            </a:avLst>
          </a:prstGeom>
          <a:solidFill>
            <a:srgbClr val="3D2C6B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eye.png" id="29" name="Google Shape;2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0120" y="2697480"/>
            <a:ext cx="594360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2"/>
          <p:cNvSpPr/>
          <p:nvPr/>
        </p:nvSpPr>
        <p:spPr>
          <a:xfrm>
            <a:off x="960120" y="342900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ვიზუალური არხი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960120" y="3840480"/>
            <a:ext cx="27432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DFF5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E4DFF5"/>
                </a:solidFill>
                <a:latin typeface="Calibri"/>
                <a:ea typeface="Calibri"/>
                <a:cs typeface="Calibri"/>
                <a:sym typeface="Calibri"/>
              </a:rPr>
              <a:t>კომერციულად ხელმისაწვდომი ჰოლოგრამები (Pepper's Ghost) ფოკუსირებულია მხოლოდ სამგანზომილებიანი გამოსახულების ხარისხზე.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4160520" y="2377440"/>
            <a:ext cx="3291840" cy="3566160"/>
          </a:xfrm>
          <a:prstGeom prst="roundRect">
            <a:avLst>
              <a:gd fmla="val 3333" name="adj"/>
            </a:avLst>
          </a:prstGeom>
          <a:solidFill>
            <a:srgbClr val="FF7A45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wind_a.png" id="33" name="Google Shape;3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80560" y="2697480"/>
            <a:ext cx="594360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2"/>
          <p:cNvSpPr/>
          <p:nvPr/>
        </p:nvSpPr>
        <p:spPr>
          <a:xfrm>
            <a:off x="4480560" y="342900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ყნოსვითი არხი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4480560" y="3840480"/>
            <a:ext cx="27432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0E8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FFF0E8"/>
                </a:solidFill>
                <a:latin typeface="Calibri"/>
                <a:ea typeface="Calibri"/>
                <a:cs typeface="Calibri"/>
                <a:sym typeface="Calibri"/>
              </a:rPr>
              <a:t>ყნოსვითი სტიმულები იწვევს გაცილებით ძლიერ და ხანგრძლივ მეხსიერებით რეაქციებს, ვიდრე ვიზუალური ან აუდიო სტიმული.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7680960" y="2377440"/>
            <a:ext cx="3840480" cy="3566160"/>
          </a:xfrm>
          <a:prstGeom prst="roundRect">
            <a:avLst>
              <a:gd fmla="val 3077" name="adj"/>
            </a:avLst>
          </a:prstGeom>
          <a:solidFill>
            <a:srgbClr val="F3F1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800100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HoloSense-ის იდეა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8001000" y="3154680"/>
            <a:ext cx="3291840" cy="2651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ხიდი ორ ყველაზე ძლიერ გრძნობას შორის —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Clr>
                <a:srgbClr val="6E6690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ჰოლოგრაფიული კონტენტი რეალურ დროში ააქტიურებს შესაბამის სუნის არხს, მინიმალური დაყოვნებით.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საინჟინრო მიზნები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640080" y="109728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პროექტის ამოცანა: ფუნქციური პროტოტიპის დიზაინი, აგება და შეფასება სინქრონიზებული ვიზუალურ-ყნოსვითი გამოცდილებისთვის.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640080" y="1965960"/>
            <a:ext cx="3413760" cy="1828800"/>
          </a:xfrm>
          <a:prstGeom prst="roundRect">
            <a:avLst>
              <a:gd fmla="val 5000" name="adj"/>
            </a:avLst>
          </a:prstGeom>
          <a:solidFill>
            <a:srgbClr val="F3F1FA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3"/>
          <p:cNvSpPr/>
          <p:nvPr/>
        </p:nvSpPr>
        <p:spPr>
          <a:xfrm>
            <a:off x="868680" y="2194560"/>
            <a:ext cx="502920" cy="502920"/>
          </a:xfrm>
          <a:prstGeom prst="ellipse">
            <a:avLst/>
          </a:prstGeom>
          <a:solidFill>
            <a:srgbClr val="3D2C6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diagram.png" id="48" name="Google Shape;4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" y="2313432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/>
          <p:nvPr/>
        </p:nvSpPr>
        <p:spPr>
          <a:xfrm>
            <a:off x="1508760" y="2148840"/>
            <a:ext cx="23622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300"/>
              <a:buFont typeface="Cambria"/>
              <a:buNone/>
            </a:pPr>
            <a:r>
              <a:rPr b="1" lang="en-US" sz="130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საიმედო ჰოლოგრაფიული ვიზუალიზაცია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868680" y="2834640"/>
            <a:ext cx="295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მდგრადი, მკაფიო ოთხმხრივი ჰოლოგრაფიული ასახვის პლატფორმა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4373880" y="1965960"/>
            <a:ext cx="3413760" cy="1828800"/>
          </a:xfrm>
          <a:prstGeom prst="roundRect">
            <a:avLst>
              <a:gd fmla="val 5000" name="adj"/>
            </a:avLst>
          </a:prstGeom>
          <a:solidFill>
            <a:srgbClr val="F3F1FA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3"/>
          <p:cNvSpPr/>
          <p:nvPr/>
        </p:nvSpPr>
        <p:spPr>
          <a:xfrm>
            <a:off x="4602480" y="2194560"/>
            <a:ext cx="502920" cy="502920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wind.png" id="53" name="Google Shape;53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21352" y="2313432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"/>
          <p:cNvSpPr/>
          <p:nvPr/>
        </p:nvSpPr>
        <p:spPr>
          <a:xfrm>
            <a:off x="5242560" y="2148840"/>
            <a:ext cx="23622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300"/>
              <a:buFont typeface="Cambria"/>
              <a:buNone/>
            </a:pPr>
            <a:r>
              <a:rPr b="1" lang="en-US" sz="130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ელექტრონულად კონტროლირებადი სუნის მიწოდება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4602480" y="2834640"/>
            <a:ext cx="295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5 დამოუკიდებელი არხი ცალკეული აქტივაციით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8107680" y="1965960"/>
            <a:ext cx="3413760" cy="1828800"/>
          </a:xfrm>
          <a:prstGeom prst="roundRect">
            <a:avLst>
              <a:gd fmla="val 5000" name="adj"/>
            </a:avLst>
          </a:prstGeom>
          <a:solidFill>
            <a:srgbClr val="F3F1FA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3"/>
          <p:cNvSpPr/>
          <p:nvPr/>
        </p:nvSpPr>
        <p:spPr>
          <a:xfrm>
            <a:off x="8336280" y="2194560"/>
            <a:ext cx="502920" cy="502920"/>
          </a:xfrm>
          <a:prstGeom prst="ellipse">
            <a:avLst/>
          </a:prstGeom>
          <a:solidFill>
            <a:srgbClr val="3D2C6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bolt.png" id="58" name="Google Shape;58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55152" y="2313432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3"/>
          <p:cNvSpPr/>
          <p:nvPr/>
        </p:nvSpPr>
        <p:spPr>
          <a:xfrm>
            <a:off x="8976360" y="2148840"/>
            <a:ext cx="23622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300"/>
              <a:buFont typeface="Cambria"/>
              <a:buNone/>
            </a:pPr>
            <a:r>
              <a:rPr b="1" lang="en-US" sz="130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რეალურ დროში სინქრონიზაცია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8336280" y="2834640"/>
            <a:ext cx="295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ვიზუალურ მოვლენასა და სუნის აქტივაციას შორის მინიმალური დაყოვნება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640080" y="4114800"/>
            <a:ext cx="3413760" cy="1828800"/>
          </a:xfrm>
          <a:prstGeom prst="roundRect">
            <a:avLst>
              <a:gd fmla="val 5000" name="adj"/>
            </a:avLst>
          </a:prstGeom>
          <a:solidFill>
            <a:srgbClr val="F3F1FA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3"/>
          <p:cNvSpPr/>
          <p:nvPr/>
        </p:nvSpPr>
        <p:spPr>
          <a:xfrm>
            <a:off x="868680" y="4343400"/>
            <a:ext cx="502920" cy="502920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shield.png" id="63" name="Google Shape;63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87552" y="4462272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3"/>
          <p:cNvSpPr/>
          <p:nvPr/>
        </p:nvSpPr>
        <p:spPr>
          <a:xfrm>
            <a:off x="1508760" y="4297680"/>
            <a:ext cx="23622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300"/>
              <a:buFont typeface="Cambria"/>
              <a:buNone/>
            </a:pPr>
            <a:r>
              <a:rPr b="1" lang="en-US" sz="130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არხებს შორის შერევის აცილება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868680" y="4983480"/>
            <a:ext cx="295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იზოლირებული ჰაერის ნაკადები და გაწმენდის ციკლი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4373880" y="4114800"/>
            <a:ext cx="3413760" cy="1828800"/>
          </a:xfrm>
          <a:prstGeom prst="roundRect">
            <a:avLst>
              <a:gd fmla="val 5000" name="adj"/>
            </a:avLst>
          </a:prstGeom>
          <a:solidFill>
            <a:srgbClr val="F3F1FA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3"/>
          <p:cNvSpPr/>
          <p:nvPr/>
        </p:nvSpPr>
        <p:spPr>
          <a:xfrm>
            <a:off x="4602480" y="4343400"/>
            <a:ext cx="502920" cy="502920"/>
          </a:xfrm>
          <a:prstGeom prst="ellipse">
            <a:avLst/>
          </a:prstGeom>
          <a:solidFill>
            <a:srgbClr val="3D2C6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ogs.png" id="68" name="Google Shape;68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721352" y="4462272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3"/>
          <p:cNvSpPr/>
          <p:nvPr/>
        </p:nvSpPr>
        <p:spPr>
          <a:xfrm>
            <a:off x="5242560" y="4297680"/>
            <a:ext cx="23622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300"/>
              <a:buFont typeface="Cambria"/>
              <a:buNone/>
            </a:pPr>
            <a:r>
              <a:rPr b="1" lang="en-US" sz="130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მოდულური არქიტექტურა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4602480" y="4983480"/>
            <a:ext cx="295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მარტივი მოვლა, შეცვლა და მომავალში გაფართოება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8107680" y="4114800"/>
            <a:ext cx="3413760" cy="1828800"/>
          </a:xfrm>
          <a:prstGeom prst="roundRect">
            <a:avLst>
              <a:gd fmla="val 5000" name="adj"/>
            </a:avLst>
          </a:prstGeom>
          <a:solidFill>
            <a:srgbClr val="F3F1FA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3"/>
          <p:cNvSpPr/>
          <p:nvPr/>
        </p:nvSpPr>
        <p:spPr>
          <a:xfrm>
            <a:off x="8336280" y="4343400"/>
            <a:ext cx="502920" cy="502920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heck.png" id="73" name="Google Shape;73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55152" y="4462272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3"/>
          <p:cNvSpPr/>
          <p:nvPr/>
        </p:nvSpPr>
        <p:spPr>
          <a:xfrm>
            <a:off x="8976360" y="4297680"/>
            <a:ext cx="23622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300"/>
              <a:buFont typeface="Cambria"/>
              <a:buNone/>
            </a:pPr>
            <a:r>
              <a:rPr b="1" lang="en-US" sz="130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უსაფრთხო ექსპლუატაცია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8336280" y="4983480"/>
            <a:ext cx="295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ნორმალური გამოყენების პირობებში სრული უსაფრთხოება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1330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41915ac81_0_5"/>
          <p:cNvSpPr/>
          <p:nvPr/>
        </p:nvSpPr>
        <p:spPr>
          <a:xfrm>
            <a:off x="640080" y="457200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სამართავი სისტემა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g3f41915ac81_0_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28800" y="1358825"/>
            <a:ext cx="8301125" cy="549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1330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როგორ მუშაობს სისტემა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640080" y="10972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C2E6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C9C2E6"/>
                </a:solidFill>
                <a:latin typeface="Calibri"/>
                <a:ea typeface="Calibri"/>
                <a:cs typeface="Calibri"/>
                <a:sym typeface="Calibri"/>
              </a:rPr>
              <a:t>კომპიუტერიდან სურათის აქტივაციიდან სუნის მიწოდებამდე — ოთხსაფეხურიანი, მეხსიერების ციკლი წამებში.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640080" y="2194560"/>
            <a:ext cx="2343150" cy="3108960"/>
          </a:xfrm>
          <a:prstGeom prst="roundRect">
            <a:avLst>
              <a:gd fmla="val 4683" name="adj"/>
            </a:avLst>
          </a:prstGeom>
          <a:solidFill>
            <a:srgbClr val="2A1F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4"/>
          <p:cNvSpPr/>
          <p:nvPr/>
        </p:nvSpPr>
        <p:spPr>
          <a:xfrm>
            <a:off x="1445895" y="2514600"/>
            <a:ext cx="731520" cy="731520"/>
          </a:xfrm>
          <a:prstGeom prst="ellipse">
            <a:avLst/>
          </a:prstGeom>
          <a:solidFill>
            <a:srgbClr val="4FD8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wifi.png" id="92" name="Google Shape;9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10487" y="2679192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4"/>
          <p:cNvSpPr/>
          <p:nvPr/>
        </p:nvSpPr>
        <p:spPr>
          <a:xfrm>
            <a:off x="822960" y="3429000"/>
            <a:ext cx="19773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mbria"/>
              <a:buNone/>
            </a:pPr>
            <a:r>
              <a:rPr b="1" lang="en-US" sz="145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1. ბრძანება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868680" y="3931920"/>
            <a:ext cx="188595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2EE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D2EE"/>
                </a:solidFill>
                <a:latin typeface="Calibri"/>
                <a:ea typeface="Calibri"/>
                <a:cs typeface="Calibri"/>
                <a:sym typeface="Calibri"/>
              </a:rPr>
              <a:t>კომპიუტერიდან ვიდეო კონტენტის შესაბამისი სიგნალი ESP32-ს გადაეცემა Wi-Fi/სერიულად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5" name="Google Shape;95;p4"/>
          <p:cNvCxnSpPr/>
          <p:nvPr/>
        </p:nvCxnSpPr>
        <p:spPr>
          <a:xfrm>
            <a:off x="3038094" y="3749040"/>
            <a:ext cx="393192" cy="0"/>
          </a:xfrm>
          <a:prstGeom prst="straightConnector1">
            <a:avLst/>
          </a:prstGeom>
          <a:noFill/>
          <a:ln cap="flat" cmpd="sng" w="25400">
            <a:solidFill>
              <a:srgbClr val="4FD8E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6" name="Google Shape;96;p4"/>
          <p:cNvSpPr/>
          <p:nvPr/>
        </p:nvSpPr>
        <p:spPr>
          <a:xfrm>
            <a:off x="3486150" y="2194560"/>
            <a:ext cx="2343150" cy="3108960"/>
          </a:xfrm>
          <a:prstGeom prst="roundRect">
            <a:avLst>
              <a:gd fmla="val 4683" name="adj"/>
            </a:avLst>
          </a:prstGeom>
          <a:solidFill>
            <a:srgbClr val="2A1F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"/>
          <p:cNvSpPr/>
          <p:nvPr/>
        </p:nvSpPr>
        <p:spPr>
          <a:xfrm>
            <a:off x="4291965" y="2514600"/>
            <a:ext cx="731520" cy="731520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hip.png" id="98" name="Google Shape;98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56557" y="2679192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4"/>
          <p:cNvSpPr/>
          <p:nvPr/>
        </p:nvSpPr>
        <p:spPr>
          <a:xfrm>
            <a:off x="3669030" y="3429000"/>
            <a:ext cx="19773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mbria"/>
              <a:buNone/>
            </a:pPr>
            <a:r>
              <a:rPr b="1" lang="en-US" sz="145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2. არხის არჩევა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3714750" y="3931920"/>
            <a:ext cx="188595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2EE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D2EE"/>
                </a:solidFill>
                <a:latin typeface="Calibri"/>
                <a:ea typeface="Calibri"/>
                <a:cs typeface="Calibri"/>
                <a:sym typeface="Calibri"/>
              </a:rPr>
              <a:t>ESP32 განსაზღვრავს სწორ სუნის არხს და რთავს შესაბამის დრაივერს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1" name="Google Shape;101;p4"/>
          <p:cNvCxnSpPr/>
          <p:nvPr/>
        </p:nvCxnSpPr>
        <p:spPr>
          <a:xfrm>
            <a:off x="5884164" y="3749040"/>
            <a:ext cx="393192" cy="0"/>
          </a:xfrm>
          <a:prstGeom prst="straightConnector1">
            <a:avLst/>
          </a:prstGeom>
          <a:noFill/>
          <a:ln cap="flat" cmpd="sng" w="25400">
            <a:solidFill>
              <a:srgbClr val="4FD8E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4"/>
          <p:cNvSpPr/>
          <p:nvPr/>
        </p:nvSpPr>
        <p:spPr>
          <a:xfrm>
            <a:off x="6332220" y="2194560"/>
            <a:ext cx="2343150" cy="3108960"/>
          </a:xfrm>
          <a:prstGeom prst="roundRect">
            <a:avLst>
              <a:gd fmla="val 4683" name="adj"/>
            </a:avLst>
          </a:prstGeom>
          <a:solidFill>
            <a:srgbClr val="2A1F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7138035" y="2514600"/>
            <a:ext cx="731520" cy="731520"/>
          </a:xfrm>
          <a:prstGeom prst="ellipse">
            <a:avLst/>
          </a:prstGeom>
          <a:solidFill>
            <a:srgbClr val="4FD8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therm.png" id="104" name="Google Shape;104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02627" y="2679192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4"/>
          <p:cNvSpPr/>
          <p:nvPr/>
        </p:nvSpPr>
        <p:spPr>
          <a:xfrm>
            <a:off x="6515100" y="3429000"/>
            <a:ext cx="19773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mbria"/>
              <a:buNone/>
            </a:pPr>
            <a:r>
              <a:rPr b="1" lang="en-US" sz="145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3. გათბობა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6560820" y="3931920"/>
            <a:ext cx="188595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2EE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D2EE"/>
                </a:solidFill>
                <a:latin typeface="Calibri"/>
                <a:ea typeface="Calibri"/>
                <a:cs typeface="Calibri"/>
                <a:sym typeface="Calibri"/>
              </a:rPr>
              <a:t>კერამიკული გამათბობელი აცხელებს ეთეროვან ზეთს დიფუზიის დასაჩქარებლად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7" name="Google Shape;107;p4"/>
          <p:cNvCxnSpPr/>
          <p:nvPr/>
        </p:nvCxnSpPr>
        <p:spPr>
          <a:xfrm>
            <a:off x="8730234" y="3749040"/>
            <a:ext cx="393192" cy="0"/>
          </a:xfrm>
          <a:prstGeom prst="straightConnector1">
            <a:avLst/>
          </a:prstGeom>
          <a:noFill/>
          <a:ln cap="flat" cmpd="sng" w="25400">
            <a:solidFill>
              <a:srgbClr val="4FD8E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p4"/>
          <p:cNvSpPr/>
          <p:nvPr/>
        </p:nvSpPr>
        <p:spPr>
          <a:xfrm>
            <a:off x="9178290" y="2194560"/>
            <a:ext cx="2343150" cy="3108960"/>
          </a:xfrm>
          <a:prstGeom prst="roundRect">
            <a:avLst>
              <a:gd fmla="val 4683" name="adj"/>
            </a:avLst>
          </a:prstGeom>
          <a:solidFill>
            <a:srgbClr val="2A1F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"/>
          <p:cNvSpPr/>
          <p:nvPr/>
        </p:nvSpPr>
        <p:spPr>
          <a:xfrm>
            <a:off x="9984105" y="2514600"/>
            <a:ext cx="731520" cy="731520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wind.png" id="110" name="Google Shape;110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148697" y="2679192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4"/>
          <p:cNvSpPr/>
          <p:nvPr/>
        </p:nvSpPr>
        <p:spPr>
          <a:xfrm>
            <a:off x="9361170" y="3429000"/>
            <a:ext cx="19773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mbria"/>
              <a:buNone/>
            </a:pPr>
            <a:r>
              <a:rPr b="1" lang="en-US" sz="145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4. მიწოდება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9406890" y="3931920"/>
            <a:ext cx="188595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2EE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D8D2EE"/>
                </a:solidFill>
                <a:latin typeface="Calibri"/>
                <a:ea typeface="Calibri"/>
                <a:cs typeface="Calibri"/>
                <a:sym typeface="Calibri"/>
              </a:rPr>
              <a:t>ჰაერის ტუმბო სუნს მომხმარებლისკენ მიმართავს, ~5 წამში, ჰოლოგრამასთან სინქრონულად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სისტემის ბლოკ-სქემა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640080" y="8686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ორი პარალელური ქვესისტემა — ჰოლოგრაფიული ვიზუალიზაცია და სუნის მართვის მოდული — ერთი კომუნიკაციის ბირთვის გარშემო.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1575313" y="1463040"/>
            <a:ext cx="9041070" cy="5394960"/>
          </a:xfrm>
          <a:prstGeom prst="roundRect">
            <a:avLst>
              <a:gd fmla="val 1356" name="adj"/>
            </a:avLst>
          </a:prstGeom>
          <a:solidFill>
            <a:srgbClr val="F3F1FA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-000.png" id="121" name="Google Shape;12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12473" y="1600200"/>
            <a:ext cx="8766750" cy="5120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8"/>
          <p:cNvSpPr/>
          <p:nvPr/>
        </p:nvSpPr>
        <p:spPr>
          <a:xfrm>
            <a:off x="640080" y="457200"/>
            <a:ext cx="9144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კომპონენტები 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8" name="Google Shape;128;p8"/>
          <p:cNvGraphicFramePr/>
          <p:nvPr/>
        </p:nvGraphicFramePr>
        <p:xfrm>
          <a:off x="640080" y="1188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{494F683B-4BD0-4C51-84D4-B91EBC7F9A1E}</a:tableStyleId>
              </a:tblPr>
              <a:tblGrid>
                <a:gridCol w="4268850"/>
                <a:gridCol w="1422925"/>
              </a:tblGrid>
              <a:tr h="579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მოწყობილობა / დეტალი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D2C6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რაოდ.</a:t>
                      </a:r>
                      <a:endParaRPr sz="12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D2C6B"/>
                    </a:solidFill>
                  </a:tcPr>
                </a:tc>
              </a:tr>
              <a:tr h="579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ESP32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79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ჰაერის ტუმბო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1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1FA"/>
                    </a:solidFill>
                  </a:tcPr>
                </a:tc>
              </a:tr>
              <a:tr h="579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კერამიკული გამათბობლები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79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ძაბვის დამგდები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1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1FA"/>
                    </a:solidFill>
                  </a:tcPr>
                </a:tc>
              </a:tr>
              <a:tr h="579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ძრავის დრაივერი BTS7960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79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მოსფეტი IRFZ44N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1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1FA"/>
                    </a:solidFill>
                  </a:tcPr>
                </a:tc>
              </a:tr>
              <a:tr h="579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არომატული ეთერზეთები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79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3მმ გამჭვირვალე ორგმინა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1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19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2319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DF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1FA"/>
                    </a:solidFill>
                  </a:tcPr>
                </a:tc>
              </a:tr>
            </a:tbl>
          </a:graphicData>
        </a:graphic>
      </p:graphicFrame>
      <p:sp>
        <p:nvSpPr>
          <p:cNvPr id="129" name="Google Shape;129;p8"/>
          <p:cNvSpPr/>
          <p:nvPr/>
        </p:nvSpPr>
        <p:spPr>
          <a:xfrm>
            <a:off x="7818120" y="1188720"/>
            <a:ext cx="3703320" cy="5212080"/>
          </a:xfrm>
          <a:prstGeom prst="roundRect">
            <a:avLst>
              <a:gd fmla="val 2963" name="adj"/>
            </a:avLst>
          </a:prstGeom>
          <a:solidFill>
            <a:srgbClr val="1B133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8"/>
          <p:cNvSpPr/>
          <p:nvPr/>
        </p:nvSpPr>
        <p:spPr>
          <a:xfrm>
            <a:off x="8092440" y="141732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D8E0"/>
              </a:buClr>
              <a:buSzPts val="1500"/>
              <a:buFont typeface="Cambria"/>
              <a:buNone/>
            </a:pPr>
            <a:r>
              <a:rPr b="1" lang="en-US" sz="1500">
                <a:solidFill>
                  <a:srgbClr val="4FD8E0"/>
                </a:solidFill>
                <a:latin typeface="Cambria"/>
                <a:ea typeface="Cambria"/>
                <a:cs typeface="Cambria"/>
                <a:sym typeface="Cambria"/>
              </a:rPr>
              <a:t>შერჩევის ლოგიკა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8"/>
          <p:cNvSpPr/>
          <p:nvPr/>
        </p:nvSpPr>
        <p:spPr>
          <a:xfrm>
            <a:off x="8092440" y="1920240"/>
            <a:ext cx="324612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E4DFF5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E4DFF5"/>
                </a:solidFill>
                <a:latin typeface="Calibri"/>
                <a:ea typeface="Calibri"/>
                <a:cs typeface="Calibri"/>
                <a:sym typeface="Calibri"/>
              </a:rPr>
              <a:t>ESP32 — Wi-Fi/Bluetooth მხარდაჭერით, დაბალი სიმძლავრით და ცნობილი საიმედოობით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200"/>
              </a:spcBef>
              <a:spcAft>
                <a:spcPts val="0"/>
              </a:spcAft>
              <a:buClr>
                <a:srgbClr val="E4DFF5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E4DFF5"/>
                </a:solidFill>
                <a:latin typeface="Calibri"/>
                <a:ea typeface="Calibri"/>
                <a:cs typeface="Calibri"/>
                <a:sym typeface="Calibri"/>
              </a:rPr>
              <a:t>კერამიკული გამათბობლები აჩქარებენ ეთეროვანი ზეთის დიფუზიას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200"/>
              </a:spcBef>
              <a:spcAft>
                <a:spcPts val="0"/>
              </a:spcAft>
              <a:buClr>
                <a:srgbClr val="E4DFF5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E4DFF5"/>
                </a:solidFill>
                <a:latin typeface="Calibri"/>
                <a:ea typeface="Calibri"/>
                <a:cs typeface="Calibri"/>
                <a:sym typeface="Calibri"/>
              </a:rPr>
              <a:t>ჰაერის ტუმბოები უზრუნველყოფენ სუნის მყისიერ მიწოდებას მომხმარებლისკენ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200"/>
              </a:spcBef>
              <a:spcAft>
                <a:spcPts val="0"/>
              </a:spcAft>
              <a:buClr>
                <a:srgbClr val="E4DFF5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E4DFF5"/>
                </a:solidFill>
                <a:latin typeface="Calibri"/>
                <a:ea typeface="Calibri"/>
                <a:cs typeface="Calibri"/>
                <a:sym typeface="Calibri"/>
              </a:rPr>
              <a:t>გამჭვირვალე ორგმინის პირამიდა ოთხმხრივ ჰოლოგრაფიულ ასახვას ქმნის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"/>
          <p:cNvSpPr/>
          <p:nvPr/>
        </p:nvSpPr>
        <p:spPr>
          <a:xfrm>
            <a:off x="640080" y="36576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წრედი და პროტოტიპის მოდელი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502920" y="1234440"/>
            <a:ext cx="6217920" cy="2784678"/>
          </a:xfrm>
          <a:prstGeom prst="roundRect">
            <a:avLst>
              <a:gd fmla="val 2627" name="adj"/>
            </a:avLst>
          </a:prstGeom>
          <a:solidFill>
            <a:srgbClr val="F3F1FA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-001.png" id="139" name="Google Shape;13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371600"/>
            <a:ext cx="5943600" cy="2510358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"/>
          <p:cNvSpPr/>
          <p:nvPr/>
        </p:nvSpPr>
        <p:spPr>
          <a:xfrm>
            <a:off x="640080" y="4064838"/>
            <a:ext cx="5943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150"/>
              <a:buFont typeface="Calibri"/>
              <a:buNone/>
            </a:pPr>
            <a:r>
              <a:rPr i="1" lang="en-US" sz="11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პირველადი პროგრამირებადი წრედი (5 არხი, BTS7960 დრაივერი)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7040880" y="1280160"/>
            <a:ext cx="4297680" cy="2577465"/>
          </a:xfrm>
          <a:prstGeom prst="roundRect">
            <a:avLst>
              <a:gd fmla="val 2838" name="adj"/>
            </a:avLst>
          </a:prstGeom>
          <a:solidFill>
            <a:srgbClr val="3D2C6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-003.png" id="142" name="Google Shape;14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23760" y="1463040"/>
            <a:ext cx="3931920" cy="221170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"/>
          <p:cNvSpPr/>
          <p:nvPr/>
        </p:nvSpPr>
        <p:spPr>
          <a:xfrm>
            <a:off x="7040880" y="3903345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150"/>
              <a:buFont typeface="Calibri"/>
              <a:buNone/>
            </a:pPr>
            <a:r>
              <a:rPr i="1" lang="en-US" sz="11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ორგმინის პირამიდის 3D მოდელი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"/>
          <p:cNvSpPr/>
          <p:nvPr/>
        </p:nvSpPr>
        <p:spPr>
          <a:xfrm>
            <a:off x="640080" y="45720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3200"/>
              <a:buFont typeface="Cambria"/>
              <a:buNone/>
            </a:pPr>
            <a:r>
              <a:rPr b="1" lang="en-US" sz="320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ენერგობიუჯეტის ანალიზი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640080" y="10972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12V DC კვების წყარო სრულად აკმაყოფილებს სისტემის მოთხოვნებს — მაქსიმალური ერთდროული მოხმარებაც კი შორსაა ლიმიტისგან.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640080" y="1874520"/>
            <a:ext cx="2514600" cy="1554480"/>
          </a:xfrm>
          <a:prstGeom prst="roundRect">
            <a:avLst>
              <a:gd fmla="val 5882" name="adj"/>
            </a:avLst>
          </a:prstGeom>
          <a:solidFill>
            <a:srgbClr val="F3F1FA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640080" y="2011680"/>
            <a:ext cx="2514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D2C6B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3D2C6B"/>
                </a:solidFill>
                <a:latin typeface="Cambria"/>
                <a:ea typeface="Cambria"/>
                <a:cs typeface="Cambria"/>
                <a:sym typeface="Cambria"/>
              </a:rPr>
              <a:t>1.25W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777240" y="2697480"/>
            <a:ext cx="2240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ESP32 (Wi-Fi/BT აქტიური)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3429000" y="1874520"/>
            <a:ext cx="2514600" cy="1554480"/>
          </a:xfrm>
          <a:prstGeom prst="roundRect">
            <a:avLst>
              <a:gd fmla="val 5882" name="adj"/>
            </a:avLst>
          </a:prstGeom>
          <a:solidFill>
            <a:srgbClr val="F3F1FA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3429000" y="2011680"/>
            <a:ext cx="2514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D2C6B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3D2C6B"/>
                </a:solidFill>
                <a:latin typeface="Cambria"/>
                <a:ea typeface="Cambria"/>
                <a:cs typeface="Cambria"/>
                <a:sym typeface="Cambria"/>
              </a:rPr>
              <a:t>4W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3566160" y="2697480"/>
            <a:ext cx="2240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თითო კერამიკული გამათბობელი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6217920" y="1874520"/>
            <a:ext cx="2514600" cy="1554480"/>
          </a:xfrm>
          <a:prstGeom prst="roundRect">
            <a:avLst>
              <a:gd fmla="val 5882" name="adj"/>
            </a:avLst>
          </a:prstGeom>
          <a:solidFill>
            <a:srgbClr val="F3F1FA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6217920" y="2011680"/>
            <a:ext cx="2514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D2C6B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3D2C6B"/>
                </a:solidFill>
                <a:latin typeface="Cambria"/>
                <a:ea typeface="Cambria"/>
                <a:cs typeface="Cambria"/>
                <a:sym typeface="Cambria"/>
              </a:rPr>
              <a:t>1.8W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6355080" y="2697480"/>
            <a:ext cx="2240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თითო ჰაერის ტუმბო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9006840" y="1874520"/>
            <a:ext cx="2514600" cy="1554480"/>
          </a:xfrm>
          <a:prstGeom prst="roundRect">
            <a:avLst>
              <a:gd fmla="val 5882" name="adj"/>
            </a:avLst>
          </a:prstGeom>
          <a:solidFill>
            <a:srgbClr val="FF7A45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9006840" y="2011680"/>
            <a:ext cx="2514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~7.5W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9144000" y="2697480"/>
            <a:ext cx="2240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ერთი აქტიური არხი (საშუალოდ)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63" name="Google Shape;163;p7"/>
          <p:cNvGraphicFramePr/>
          <p:nvPr/>
        </p:nvGraphicFramePr>
        <p:xfrm>
          <a:off x="640080" y="3703320"/>
          <a:ext cx="10881360" cy="2743200"/>
        </p:xfrm>
        <a:graphic>
          <a:graphicData uri="http://schemas.openxmlformats.org/drawingml/2006/chart">
            <c:chart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9"/>
          <p:cNvSpPr/>
          <p:nvPr/>
        </p:nvSpPr>
        <p:spPr>
          <a:xfrm>
            <a:off x="64008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ვერიფიკაცია და ტესტირება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640080" y="100584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სამი ძირითადი ტესტი დაადასტურა დიზაინის სპეციფიკაციებთან შესაბამისობა.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9"/>
          <p:cNvSpPr/>
          <p:nvPr/>
        </p:nvSpPr>
        <p:spPr>
          <a:xfrm>
            <a:off x="640080" y="1691640"/>
            <a:ext cx="3383280" cy="4480560"/>
          </a:xfrm>
          <a:prstGeom prst="roundRect">
            <a:avLst>
              <a:gd fmla="val 3243" name="adj"/>
            </a:avLst>
          </a:prstGeom>
          <a:solidFill>
            <a:srgbClr val="F3F1FA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9"/>
          <p:cNvSpPr/>
          <p:nvPr/>
        </p:nvSpPr>
        <p:spPr>
          <a:xfrm>
            <a:off x="914400" y="1965960"/>
            <a:ext cx="640080" cy="640080"/>
          </a:xfrm>
          <a:prstGeom prst="ellipse">
            <a:avLst/>
          </a:prstGeom>
          <a:solidFill>
            <a:srgbClr val="3D2C6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therm.png" id="173" name="Google Shape;17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0704" y="2112264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9"/>
          <p:cNvSpPr/>
          <p:nvPr/>
        </p:nvSpPr>
        <p:spPr>
          <a:xfrm>
            <a:off x="914400" y="2743200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7A45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FF7A45"/>
                </a:solidFill>
                <a:latin typeface="Calibri"/>
                <a:ea typeface="Calibri"/>
                <a:cs typeface="Calibri"/>
                <a:sym typeface="Calibri"/>
              </a:rPr>
              <a:t>ტესტი N1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9"/>
          <p:cNvSpPr/>
          <p:nvPr/>
        </p:nvSpPr>
        <p:spPr>
          <a:xfrm>
            <a:off x="914400" y="3017520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450"/>
              <a:buFont typeface="Cambria"/>
              <a:buNone/>
            </a:pPr>
            <a:r>
              <a:rPr b="1" lang="en-US" sz="145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ტემპერატურის კონტროლი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9"/>
          <p:cNvSpPr/>
          <p:nvPr/>
        </p:nvSpPr>
        <p:spPr>
          <a:xfrm>
            <a:off x="914400" y="3611880"/>
            <a:ext cx="2834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თერმული კამერით შემოწმდა გამათბობლის სტაბილურობა 50°C-ზე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7" name="Google Shape;177;p9"/>
          <p:cNvCxnSpPr/>
          <p:nvPr/>
        </p:nvCxnSpPr>
        <p:spPr>
          <a:xfrm>
            <a:off x="914400" y="5120640"/>
            <a:ext cx="2834640" cy="0"/>
          </a:xfrm>
          <a:prstGeom prst="straightConnector1">
            <a:avLst/>
          </a:prstGeom>
          <a:noFill/>
          <a:ln cap="flat" cmpd="sng" w="12700">
            <a:solidFill>
              <a:srgbClr val="D9D2EC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icons/check.png" id="178" name="Google Shape;178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4400" y="530352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9"/>
          <p:cNvSpPr/>
          <p:nvPr/>
        </p:nvSpPr>
        <p:spPr>
          <a:xfrm>
            <a:off x="1298448" y="52852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8A5F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E8A5F"/>
                </a:solidFill>
                <a:latin typeface="Calibri"/>
                <a:ea typeface="Calibri"/>
                <a:cs typeface="Calibri"/>
                <a:sym typeface="Calibri"/>
              </a:rPr>
              <a:t>სპეციფიკაციის შესაბამისი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4389120" y="1691640"/>
            <a:ext cx="3383280" cy="4480560"/>
          </a:xfrm>
          <a:prstGeom prst="roundRect">
            <a:avLst>
              <a:gd fmla="val 3243" name="adj"/>
            </a:avLst>
          </a:prstGeom>
          <a:solidFill>
            <a:srgbClr val="F3F1FA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9"/>
          <p:cNvSpPr/>
          <p:nvPr/>
        </p:nvSpPr>
        <p:spPr>
          <a:xfrm>
            <a:off x="4663440" y="1965960"/>
            <a:ext cx="640080" cy="640080"/>
          </a:xfrm>
          <a:prstGeom prst="ellipse">
            <a:avLst/>
          </a:prstGeom>
          <a:solidFill>
            <a:srgbClr val="3D2C6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wind.png" id="182" name="Google Shape;182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809744" y="2112264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9"/>
          <p:cNvSpPr/>
          <p:nvPr/>
        </p:nvSpPr>
        <p:spPr>
          <a:xfrm>
            <a:off x="4663440" y="2743200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7A45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FF7A45"/>
                </a:solidFill>
                <a:latin typeface="Calibri"/>
                <a:ea typeface="Calibri"/>
                <a:cs typeface="Calibri"/>
                <a:sym typeface="Calibri"/>
              </a:rPr>
              <a:t>ტესტი N2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9"/>
          <p:cNvSpPr/>
          <p:nvPr/>
        </p:nvSpPr>
        <p:spPr>
          <a:xfrm>
            <a:off x="4663440" y="3017520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450"/>
              <a:buFont typeface="Cambria"/>
              <a:buNone/>
            </a:pPr>
            <a:r>
              <a:rPr b="1" lang="en-US" sz="145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არხების ჰერმეტულობა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4663440" y="3611880"/>
            <a:ext cx="2834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ორ ოთახად გამოცდილი დიფუზია — სუნი მხოლოდ სამიზნე არხში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6" name="Google Shape;186;p9"/>
          <p:cNvCxnSpPr/>
          <p:nvPr/>
        </p:nvCxnSpPr>
        <p:spPr>
          <a:xfrm>
            <a:off x="4663440" y="5120640"/>
            <a:ext cx="2834640" cy="0"/>
          </a:xfrm>
          <a:prstGeom prst="straightConnector1">
            <a:avLst/>
          </a:prstGeom>
          <a:noFill/>
          <a:ln cap="flat" cmpd="sng" w="12700">
            <a:solidFill>
              <a:srgbClr val="D9D2EC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icons/check.png" id="187" name="Google Shape;187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63440" y="530352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9"/>
          <p:cNvSpPr/>
          <p:nvPr/>
        </p:nvSpPr>
        <p:spPr>
          <a:xfrm>
            <a:off x="5047488" y="52852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8A5F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E8A5F"/>
                </a:solidFill>
                <a:latin typeface="Calibri"/>
                <a:ea typeface="Calibri"/>
                <a:cs typeface="Calibri"/>
                <a:sym typeface="Calibri"/>
              </a:rPr>
              <a:t>სუნი მხოლოდ სამიზნე ოთახში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8138160" y="1691640"/>
            <a:ext cx="3383280" cy="4480560"/>
          </a:xfrm>
          <a:prstGeom prst="roundRect">
            <a:avLst>
              <a:gd fmla="val 3243" name="adj"/>
            </a:avLst>
          </a:prstGeom>
          <a:solidFill>
            <a:srgbClr val="F3F1FA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9"/>
          <p:cNvSpPr/>
          <p:nvPr/>
        </p:nvSpPr>
        <p:spPr>
          <a:xfrm>
            <a:off x="8412480" y="1965960"/>
            <a:ext cx="640080" cy="640080"/>
          </a:xfrm>
          <a:prstGeom prst="ellipse">
            <a:avLst/>
          </a:prstGeom>
          <a:solidFill>
            <a:srgbClr val="3D2C6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eye.png" id="191" name="Google Shape;191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558784" y="2112264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9"/>
          <p:cNvSpPr/>
          <p:nvPr/>
        </p:nvSpPr>
        <p:spPr>
          <a:xfrm>
            <a:off x="8412480" y="2743200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7A45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FF7A45"/>
                </a:solidFill>
                <a:latin typeface="Calibri"/>
                <a:ea typeface="Calibri"/>
                <a:cs typeface="Calibri"/>
                <a:sym typeface="Calibri"/>
              </a:rPr>
              <a:t>ტესტი N3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9"/>
          <p:cNvSpPr/>
          <p:nvPr/>
        </p:nvSpPr>
        <p:spPr>
          <a:xfrm>
            <a:off x="8412480" y="3017520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1450"/>
              <a:buFont typeface="Cambria"/>
              <a:buNone/>
            </a:pPr>
            <a:r>
              <a:rPr b="1" lang="en-US" sz="145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ჰოლოგრამის სიცხადე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9"/>
          <p:cNvSpPr/>
          <p:nvPr/>
        </p:nvSpPr>
        <p:spPr>
          <a:xfrm>
            <a:off x="8412480" y="3611880"/>
            <a:ext cx="2834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ორგმინის კუთხეები მორგებული ეკრანის ზომაზე ლაზერული საჭრელით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5" name="Google Shape;195;p9"/>
          <p:cNvCxnSpPr/>
          <p:nvPr/>
        </p:nvCxnSpPr>
        <p:spPr>
          <a:xfrm>
            <a:off x="8412480" y="5120640"/>
            <a:ext cx="2834640" cy="0"/>
          </a:xfrm>
          <a:prstGeom prst="straightConnector1">
            <a:avLst/>
          </a:prstGeom>
          <a:noFill/>
          <a:ln cap="flat" cmpd="sng" w="12700">
            <a:solidFill>
              <a:srgbClr val="D9D2EC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icons/check.png" id="196" name="Google Shape;196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12480" y="530352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9"/>
          <p:cNvSpPr/>
          <p:nvPr/>
        </p:nvSpPr>
        <p:spPr>
          <a:xfrm>
            <a:off x="8796528" y="52852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8A5F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1E8A5F"/>
                </a:solidFill>
                <a:latin typeface="Calibri"/>
                <a:ea typeface="Calibri"/>
                <a:cs typeface="Calibri"/>
                <a:sym typeface="Calibri"/>
              </a:rPr>
              <a:t>კონტენტი სრულად და მკაფიოდ ჩანს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31942"/>
              </a:buClr>
              <a:buSzPts val="3000"/>
              <a:buFont typeface="Cambria"/>
              <a:buNone/>
            </a:pPr>
            <a:r>
              <a:rPr b="1" lang="en-US" sz="3000">
                <a:solidFill>
                  <a:srgbClr val="231942"/>
                </a:solidFill>
                <a:latin typeface="Cambria"/>
                <a:ea typeface="Cambria"/>
                <a:cs typeface="Cambria"/>
                <a:sym typeface="Cambria"/>
              </a:rPr>
              <a:t>დასკვნები და მომავალი განვითარება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640080" y="1234440"/>
            <a:ext cx="5257800" cy="5120640"/>
          </a:xfrm>
          <a:prstGeom prst="roundRect">
            <a:avLst>
              <a:gd fmla="val 2143" name="adj"/>
            </a:avLst>
          </a:prstGeom>
          <a:solidFill>
            <a:srgbClr val="F3F1FA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0"/>
          <p:cNvSpPr/>
          <p:nvPr/>
        </p:nvSpPr>
        <p:spPr>
          <a:xfrm>
            <a:off x="914400" y="146304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D2C6B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3D2C6B"/>
                </a:solidFill>
                <a:latin typeface="Cambria"/>
                <a:ea typeface="Cambria"/>
                <a:cs typeface="Cambria"/>
                <a:sym typeface="Cambria"/>
              </a:rPr>
              <a:t>მიღწეული შედეგი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914400" y="1965960"/>
            <a:ext cx="4754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ჰოლოგრაფიული კონტენტი მინიმალურ დროში ააქტიურებს შესაბამის სუნის არხს — ვიზუალური და ყნოსვითი აღქმა ერთდროულად ტრიგერდება.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0"/>
          <p:cNvSpPr/>
          <p:nvPr/>
        </p:nvSpPr>
        <p:spPr>
          <a:xfrm>
            <a:off x="914400" y="2880360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7A45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FF7A45"/>
                </a:solidFill>
                <a:latin typeface="Calibri"/>
                <a:ea typeface="Calibri"/>
                <a:cs typeface="Calibri"/>
                <a:sym typeface="Calibri"/>
              </a:rPr>
              <a:t>შეზღუდვა: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0"/>
          <p:cNvSpPr/>
          <p:nvPr/>
        </p:nvSpPr>
        <p:spPr>
          <a:xfrm>
            <a:off x="914400" y="3200400"/>
            <a:ext cx="47548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ეთეროვანი ზეთის წვეთოვანის ავტომატიზაცია ჯერ არ არის რეალიზებული — ბოთლები კარტრიჯებივით ხელით იცვლება.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0"/>
          <p:cNvSpPr/>
          <p:nvPr/>
        </p:nvSpPr>
        <p:spPr>
          <a:xfrm>
            <a:off x="914400" y="4023360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D2C6B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3D2C6B"/>
                </a:solidFill>
                <a:latin typeface="Calibri"/>
                <a:ea typeface="Calibri"/>
                <a:cs typeface="Calibri"/>
                <a:sym typeface="Calibri"/>
              </a:rPr>
              <a:t>სამომავლო გაუმჯობესება: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914400" y="4343400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690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6E6690"/>
                </a:solidFill>
                <a:latin typeface="Calibri"/>
                <a:ea typeface="Calibri"/>
                <a:cs typeface="Calibri"/>
                <a:sym typeface="Calibri"/>
              </a:rPr>
              <a:t>ეკრანის პროგრამული მოდიფიცირება პირამიდის ზომებზე ნატიური ჰოლოგრაფიული რეჟიმისთვის — ამცირებს თვალის დაღლილობასაც.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0"/>
          <p:cNvSpPr/>
          <p:nvPr/>
        </p:nvSpPr>
        <p:spPr>
          <a:xfrm>
            <a:off x="914400" y="5257800"/>
            <a:ext cx="4754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/>
          <p:nvPr/>
        </p:nvSpPr>
        <p:spPr>
          <a:xfrm>
            <a:off x="6172200" y="1234440"/>
            <a:ext cx="5349240" cy="5120640"/>
          </a:xfrm>
          <a:prstGeom prst="roundRect">
            <a:avLst>
              <a:gd fmla="val 2143" name="adj"/>
            </a:avLst>
          </a:prstGeom>
          <a:solidFill>
            <a:srgbClr val="3D2C6B"/>
          </a:solidFill>
          <a:ln>
            <a:noFill/>
          </a:ln>
          <a:effectLst>
            <a:outerShdw blurRad="101600" rotWithShape="0" algn="bl" dir="5400000" dist="38100">
              <a:srgbClr val="000000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0"/>
          <p:cNvSpPr/>
          <p:nvPr/>
        </p:nvSpPr>
        <p:spPr>
          <a:xfrm>
            <a:off x="6446520" y="146304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1" lang="en-US" sz="1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კომერციალიზაციის პოტენციალი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6446520" y="2011680"/>
            <a:ext cx="502920" cy="502920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box.png" id="215" name="Google Shape;21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74536" y="213969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0"/>
          <p:cNvSpPr/>
          <p:nvPr/>
        </p:nvSpPr>
        <p:spPr>
          <a:xfrm>
            <a:off x="7132320" y="196596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mbria"/>
              <a:buNone/>
            </a:pPr>
            <a:r>
              <a:rPr b="1" lang="en-US" sz="135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მუზეუმები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/>
          <p:nvPr/>
        </p:nvSpPr>
        <p:spPr>
          <a:xfrm>
            <a:off x="7132320" y="2331720"/>
            <a:ext cx="4206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DFF5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E4DFF5"/>
                </a:solidFill>
                <a:latin typeface="Calibri"/>
                <a:ea typeface="Calibri"/>
                <a:cs typeface="Calibri"/>
                <a:sym typeface="Calibri"/>
              </a:rPr>
              <a:t>წარსულის უფრო რეალური და ყურადღების მიმპყრობი გადმოცემა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0"/>
          <p:cNvSpPr/>
          <p:nvPr/>
        </p:nvSpPr>
        <p:spPr>
          <a:xfrm>
            <a:off x="6446520" y="3383280"/>
            <a:ext cx="502920" cy="502920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flask.png" id="219" name="Google Shape;219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74536" y="351129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0"/>
          <p:cNvSpPr/>
          <p:nvPr/>
        </p:nvSpPr>
        <p:spPr>
          <a:xfrm>
            <a:off x="7132320" y="333756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mbria"/>
              <a:buNone/>
            </a:pPr>
            <a:r>
              <a:rPr b="1" lang="en-US" sz="135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პარფიუმერიის მარკეტინგი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7132320" y="3703320"/>
            <a:ext cx="4206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DFF5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E4DFF5"/>
                </a:solidFill>
                <a:latin typeface="Calibri"/>
                <a:ea typeface="Calibri"/>
                <a:cs typeface="Calibri"/>
                <a:sym typeface="Calibri"/>
              </a:rPr>
              <a:t>პროდუქტის რეკლამა ჰოლოგრამაზე + რეალურ დროში სუნის ტესტირება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6446520" y="4754880"/>
            <a:ext cx="502920" cy="502920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bulb.png" id="223" name="Google Shape;223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74536" y="488289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0"/>
          <p:cNvSpPr/>
          <p:nvPr/>
        </p:nvSpPr>
        <p:spPr>
          <a:xfrm>
            <a:off x="7132320" y="4709160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mbria"/>
              <a:buNone/>
            </a:pPr>
            <a:r>
              <a:rPr b="1" lang="en-US" sz="135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განათლება და გამოფენები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7132320" y="5074920"/>
            <a:ext cx="42062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DFF5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E4DFF5"/>
                </a:solidFill>
                <a:latin typeface="Calibri"/>
                <a:ea typeface="Calibri"/>
                <a:cs typeface="Calibri"/>
                <a:sym typeface="Calibri"/>
              </a:rPr>
              <a:t>ინტერაქტიული, მრავალსენსორული სასწავლო გამოცდილება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1"/>
          <p:cNvSpPr txBox="1"/>
          <p:nvPr/>
        </p:nvSpPr>
        <p:spPr>
          <a:xfrm>
            <a:off x="3313524" y="3136612"/>
            <a:ext cx="5564952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მადლობა ყურადღებისთვის!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2026-07-07T10:37:35Z</dcterms:created>
  <dc:creator>დავით მიქავა, ცოტნე მაჭარაშვილი, ვაჟა კეკენაძე</dc:creator>
</cp:coreProperties>
</file>